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59" r:id="rId3"/>
    <p:sldId id="265" r:id="rId4"/>
    <p:sldId id="256" r:id="rId5"/>
    <p:sldId id="261" r:id="rId6"/>
    <p:sldId id="262" r:id="rId7"/>
    <p:sldId id="257" r:id="rId8"/>
    <p:sldId id="266" r:id="rId9"/>
    <p:sldId id="260" r:id="rId10"/>
    <p:sldId id="267" r:id="rId11"/>
    <p:sldId id="263" r:id="rId12"/>
    <p:sldId id="264"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9900"/>
    <a:srgbClr val="B45210"/>
    <a:srgbClr val="82DAE6"/>
    <a:srgbClr val="55CDDD"/>
    <a:srgbClr val="F1FF67"/>
    <a:srgbClr val="70F0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81" autoAdjust="0"/>
    <p:restoredTop sz="94660"/>
  </p:normalViewPr>
  <p:slideViewPr>
    <p:cSldViewPr snapToGrid="0">
      <p:cViewPr varScale="1">
        <p:scale>
          <a:sx n="78" d="100"/>
          <a:sy n="78" d="100"/>
        </p:scale>
        <p:origin x="108" y="5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6BCB7A-1F26-4148-976C-3D461EE5455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8269F43-FCA6-4D56-85A6-1509D52732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91F03B4-2FBF-4923-9E6B-1BE7A1BC7A7A}"/>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694F7640-46DB-4426-9FA1-05BFDE3E134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2EE0D65-3D0E-411A-A9CA-A6A1ECCF1139}"/>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4416216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2C1D62-7968-480C-946E-5403D649ABC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A954B58-98AB-4F37-9BF0-01EBE95FC28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8DC9383-9CA6-4DB3-B6AD-9291D9BEF332}"/>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69398A05-270E-4A65-BA45-76E6D0F32E1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C1FFBD9-4C9C-475C-8C09-D1CA7CDC2CAB}"/>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8569863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261E9E-56A7-400A-86C8-E1E4B431569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AD25359-7F3C-4E47-845E-6268C25D7E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7934A84-F23B-4EFB-921D-B6F1395CFBBE}"/>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39100C45-461F-4841-BAD4-3C58DC4FE32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D6C908F-F9C0-455F-9A96-B954461734CF}"/>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16113878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705014-7D0F-4EC3-8AA4-803ED754ABA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27E0427-1BD1-4C27-9BB4-77EF25CCFEB6}"/>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BF361F3-0555-48D4-85BB-509794A02B75}"/>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8589042-BC83-4D19-B68F-4CFEFA00C2EB}"/>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6" name="フッター プレースホルダー 5">
            <a:extLst>
              <a:ext uri="{FF2B5EF4-FFF2-40B4-BE49-F238E27FC236}">
                <a16:creationId xmlns:a16="http://schemas.microsoft.com/office/drawing/2014/main" id="{C62826B8-E586-4AD6-90B6-FC97DF23F47B}"/>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AEC288C-A077-4185-9DE0-401013CC57BB}"/>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157507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E92F8C-86A5-44CC-869F-D33B0FDD5DD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3007C7C-AA8C-415C-904A-B39CD8B1E0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33801F67-6385-4EE1-BA4E-548B187278C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F486229-0DDE-421C-AEDF-1351FC4A64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06A16B-A8F0-4850-95C9-CF959ACAD4E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3170710C-ABC7-440B-9292-1C9BEF88CD7A}"/>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8" name="フッター プレースホルダー 7">
            <a:extLst>
              <a:ext uri="{FF2B5EF4-FFF2-40B4-BE49-F238E27FC236}">
                <a16:creationId xmlns:a16="http://schemas.microsoft.com/office/drawing/2014/main" id="{322FFEF3-3582-4B11-961A-C70ECCE2FCD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BDCDDCB-78C9-46F1-BCEB-20EEF954769D}"/>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935538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D8AF00-78EA-4428-BD1A-6EAE6DB3274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61C2FA07-893A-4BAE-93D6-BA8B8466CF5B}"/>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4" name="フッター プレースホルダー 3">
            <a:extLst>
              <a:ext uri="{FF2B5EF4-FFF2-40B4-BE49-F238E27FC236}">
                <a16:creationId xmlns:a16="http://schemas.microsoft.com/office/drawing/2014/main" id="{2055D05F-D132-4984-BB88-75EE96611A5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50ABE12-970C-4D27-A96E-3229CBA8E27A}"/>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6562546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8ECC8F8-9A0C-405F-9B8D-AE6872A1A5A0}"/>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3" name="フッター プレースホルダー 2">
            <a:extLst>
              <a:ext uri="{FF2B5EF4-FFF2-40B4-BE49-F238E27FC236}">
                <a16:creationId xmlns:a16="http://schemas.microsoft.com/office/drawing/2014/main" id="{EA1CC9E8-C9BB-4D7E-AED5-3C11F085676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55289B6-D648-4BB0-8503-E5F63CB68D40}"/>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41805165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E192EF-C2B0-447E-BA49-303D0D807F2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2844FE1-0544-4635-A9EB-B4CAE33B67C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17B945A-3E8B-42C8-89E6-ED5385AF46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161A0ED-D868-4C79-B065-1D0FD05FD5B2}"/>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6" name="フッター プレースホルダー 5">
            <a:extLst>
              <a:ext uri="{FF2B5EF4-FFF2-40B4-BE49-F238E27FC236}">
                <a16:creationId xmlns:a16="http://schemas.microsoft.com/office/drawing/2014/main" id="{5F345F5D-DD98-4E67-9900-83689B32DE9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4372FB-7B5D-4A9B-B066-EBBA4A1A6874}"/>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192497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DF89DD-447E-4324-9E89-FCD0D2F46F3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EEC72E05-38AF-4E71-A356-FEF8DE6F85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CE40B37-E82A-442C-875C-6AFED7A3DA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14B3CEC-1BED-49D4-8489-994B447D69CE}"/>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6" name="フッター プレースホルダー 5">
            <a:extLst>
              <a:ext uri="{FF2B5EF4-FFF2-40B4-BE49-F238E27FC236}">
                <a16:creationId xmlns:a16="http://schemas.microsoft.com/office/drawing/2014/main" id="{033F723D-9C61-4E68-8152-746264D06B4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1FA788-B3AC-4905-87B2-BA637D0E9C80}"/>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0531077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DB15E1-0923-420F-9788-046A1DE5FED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4E60554-73D9-4EB1-8D5B-5240B9C6D3E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C959E56-EA97-4805-A9F6-2665C90F4F0B}"/>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73DCCBC8-B1F1-4D18-9892-71283E3A4CF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E15B1FA-9D7E-4CB8-B1EB-7A20505BF29B}"/>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20784491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5DEE368A-E0C8-42F2-947F-0A8C497345E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DE7F53A-72F1-4C67-92FC-6EC1B29F46B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1C6EB12-3E0F-47AD-B6C7-3F0BC5AF52B3}"/>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E404891F-6BB7-4EBA-B31D-47B775F57A0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15CE464-482E-4664-9844-F6E649744524}"/>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7939361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D59752D-F275-40E4-B487-229EFCC69BB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6A32AE1-DAE0-4DD6-9B63-49340E2083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B8A8123-22EF-4F7A-9A47-96666B7F90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185FCC82-9FA3-45EB-BF96-E72558C0B6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E3BB827-B540-40CA-A31F-37EB68B2CCE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6022231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21" Type="http://schemas.openxmlformats.org/officeDocument/2006/relationships/image" Target="../media/image20.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5" Type="http://schemas.openxmlformats.org/officeDocument/2006/relationships/image" Target="../media/image24.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svg"/><Relationship Id="rId24" Type="http://schemas.openxmlformats.org/officeDocument/2006/relationships/image" Target="../media/image23.png"/><Relationship Id="rId5" Type="http://schemas.openxmlformats.org/officeDocument/2006/relationships/image" Target="../media/image4.svg"/><Relationship Id="rId15" Type="http://schemas.openxmlformats.org/officeDocument/2006/relationships/image" Target="../media/image14.svg"/><Relationship Id="rId23" Type="http://schemas.openxmlformats.org/officeDocument/2006/relationships/image" Target="../media/image22.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 Id="rId22"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DAF592E0-9AD4-4B5B-B15B-F0675D4D50D5}"/>
              </a:ext>
            </a:extLst>
          </p:cNvPr>
          <p:cNvSpPr txBox="1"/>
          <p:nvPr/>
        </p:nvSpPr>
        <p:spPr>
          <a:xfrm>
            <a:off x="165100" y="177800"/>
            <a:ext cx="10553700" cy="5262979"/>
          </a:xfrm>
          <a:prstGeom prst="rect">
            <a:avLst/>
          </a:prstGeom>
          <a:noFill/>
        </p:spPr>
        <p:txBody>
          <a:bodyPr wrap="square" rtlCol="0">
            <a:spAutoFit/>
          </a:bodyPr>
          <a:lstStyle/>
          <a:p>
            <a:r>
              <a:rPr kumimoji="1" lang="ja-JP" altLang="en-US" sz="2400" b="1" dirty="0"/>
              <a:t>ゲームルール</a:t>
            </a:r>
            <a:endParaRPr kumimoji="1" lang="en-US" altLang="ja-JP" sz="2400" b="1" dirty="0"/>
          </a:p>
          <a:p>
            <a:r>
              <a:rPr lang="ja-JP" altLang="en-US" sz="2400" b="1" dirty="0"/>
              <a:t>・</a:t>
            </a:r>
            <a:r>
              <a:rPr lang="en-US" altLang="ja-JP" sz="2400" b="1" dirty="0"/>
              <a:t>HP</a:t>
            </a:r>
            <a:r>
              <a:rPr lang="ja-JP" altLang="en-US" sz="2400" b="1" dirty="0"/>
              <a:t>制</a:t>
            </a:r>
            <a:r>
              <a:rPr lang="en-US" altLang="ja-JP" sz="2400" b="1" dirty="0"/>
              <a:t>(</a:t>
            </a:r>
            <a:r>
              <a:rPr lang="ja-JP" altLang="en-US" sz="2400" b="1" dirty="0"/>
              <a:t>３～５</a:t>
            </a:r>
            <a:r>
              <a:rPr lang="en-US" altLang="ja-JP" sz="2400" b="1" dirty="0"/>
              <a:t>)</a:t>
            </a:r>
          </a:p>
          <a:p>
            <a:r>
              <a:rPr lang="ja-JP" altLang="en-US" sz="2400" b="1" dirty="0"/>
              <a:t>・</a:t>
            </a:r>
            <a:r>
              <a:rPr lang="en-US" altLang="ja-JP" sz="2400" b="1" dirty="0"/>
              <a:t>HP</a:t>
            </a:r>
            <a:r>
              <a:rPr lang="ja-JP" altLang="en-US" sz="2400" b="1" dirty="0"/>
              <a:t>が０になったら最初から、もしくはセーブポイントから</a:t>
            </a:r>
            <a:endParaRPr lang="en-US" altLang="ja-JP" sz="2400" b="1" dirty="0"/>
          </a:p>
          <a:p>
            <a:r>
              <a:rPr lang="ja-JP" altLang="en-US" sz="2400" b="1" dirty="0"/>
              <a:t>・ステージクリアごとにオートセーブ</a:t>
            </a:r>
            <a:endParaRPr lang="en-US" altLang="ja-JP" sz="2400" b="1" dirty="0"/>
          </a:p>
          <a:p>
            <a:r>
              <a:rPr lang="ja-JP" altLang="en-US" sz="2400" b="1" dirty="0"/>
              <a:t>・ステージ内にチェックポイント</a:t>
            </a:r>
            <a:endParaRPr lang="en-US" altLang="ja-JP" sz="2400" b="1" dirty="0"/>
          </a:p>
          <a:p>
            <a:r>
              <a:rPr lang="ja-JP" altLang="en-US" sz="2400" b="1" dirty="0"/>
              <a:t>・チェックポイントに到達したら</a:t>
            </a:r>
            <a:r>
              <a:rPr lang="en-US" altLang="ja-JP" sz="2400" b="1" dirty="0"/>
              <a:t>HP</a:t>
            </a:r>
            <a:r>
              <a:rPr lang="ja-JP" altLang="en-US" sz="2400" b="1" dirty="0"/>
              <a:t>全回復</a:t>
            </a:r>
            <a:endParaRPr lang="en-US" altLang="ja-JP" sz="2400" b="1" dirty="0"/>
          </a:p>
          <a:p>
            <a:r>
              <a:rPr lang="ja-JP" altLang="en-US" sz="2400" b="1" dirty="0"/>
              <a:t>・ゴールにたどり着いたら次のコースへ</a:t>
            </a:r>
            <a:endParaRPr lang="en-US" altLang="ja-JP" sz="2400" b="1" dirty="0"/>
          </a:p>
          <a:p>
            <a:r>
              <a:rPr lang="ja-JP" altLang="en-US" sz="2400" b="1" dirty="0"/>
              <a:t>・ゴール条件</a:t>
            </a:r>
            <a:r>
              <a:rPr lang="en-US" altLang="ja-JP" sz="2400" b="1" dirty="0"/>
              <a:t>(</a:t>
            </a:r>
            <a:r>
              <a:rPr lang="ja-JP" altLang="en-US" sz="2400" b="1" dirty="0"/>
              <a:t>特定の敵を倒す、カギを見つける、制限時間、、、</a:t>
            </a:r>
            <a:r>
              <a:rPr lang="en-US" altLang="ja-JP" sz="2400" b="1" dirty="0"/>
              <a:t>)</a:t>
            </a:r>
          </a:p>
          <a:p>
            <a:r>
              <a:rPr kumimoji="1" lang="ja-JP" altLang="en-US" sz="2400" b="1" dirty="0"/>
              <a:t>・組み合わせられる属性は３つまで</a:t>
            </a:r>
            <a:endParaRPr kumimoji="1" lang="en-US" altLang="ja-JP" sz="2400" b="1" dirty="0"/>
          </a:p>
          <a:p>
            <a:r>
              <a:rPr lang="ja-JP" altLang="en-US" sz="2400" b="1" dirty="0"/>
              <a:t>・それぞれの属性を使える回数制限あり</a:t>
            </a:r>
            <a:r>
              <a:rPr lang="en-US" altLang="ja-JP" sz="2400" b="1" dirty="0"/>
              <a:t>(</a:t>
            </a:r>
            <a:r>
              <a:rPr lang="ja-JP" altLang="en-US" sz="2400" b="1" dirty="0"/>
              <a:t>ステージによって変化</a:t>
            </a:r>
            <a:r>
              <a:rPr lang="en-US" altLang="ja-JP" sz="2400" b="1" dirty="0"/>
              <a:t>)</a:t>
            </a:r>
          </a:p>
          <a:p>
            <a:r>
              <a:rPr kumimoji="1" lang="ja-JP" altLang="en-US" sz="2400" b="1" dirty="0"/>
              <a:t>・属性使用可能回数に余裕があるが、一定以上ミスをすると詰み</a:t>
            </a:r>
            <a:endParaRPr kumimoji="1" lang="en-US" altLang="ja-JP" sz="2400" b="1" dirty="0"/>
          </a:p>
          <a:p>
            <a:r>
              <a:rPr lang="ja-JP" altLang="en-US" sz="2400" b="1" dirty="0"/>
              <a:t>・リセットボタンあり</a:t>
            </a:r>
            <a:endParaRPr lang="en-US" altLang="ja-JP" sz="2400" b="1" dirty="0"/>
          </a:p>
          <a:p>
            <a:r>
              <a:rPr lang="ja-JP" altLang="en-US" sz="2400" b="1" dirty="0"/>
              <a:t>・ステージをクリアするごとに使える属性が増える</a:t>
            </a:r>
            <a:endParaRPr lang="en-US" altLang="ja-JP" sz="2400" b="1" dirty="0"/>
          </a:p>
          <a:p>
            <a:r>
              <a:rPr lang="ja-JP" altLang="en-US" sz="2400" b="1" dirty="0"/>
              <a:t>・縛りステージもある</a:t>
            </a:r>
            <a:endParaRPr lang="en-US" altLang="ja-JP" sz="2400" b="1" dirty="0"/>
          </a:p>
        </p:txBody>
      </p:sp>
    </p:spTree>
    <p:extLst>
      <p:ext uri="{BB962C8B-B14F-4D97-AF65-F5344CB8AC3E}">
        <p14:creationId xmlns:p14="http://schemas.microsoft.com/office/powerpoint/2010/main" val="27215038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A6D6F7A-225F-4306-B7D8-49BBB65525CD}"/>
              </a:ext>
            </a:extLst>
          </p:cNvPr>
          <p:cNvSpPr txBox="1"/>
          <p:nvPr/>
        </p:nvSpPr>
        <p:spPr>
          <a:xfrm>
            <a:off x="292100" y="266700"/>
            <a:ext cx="8813800" cy="3046988"/>
          </a:xfrm>
          <a:prstGeom prst="rect">
            <a:avLst/>
          </a:prstGeom>
          <a:noFill/>
        </p:spPr>
        <p:txBody>
          <a:bodyPr wrap="square" rtlCol="0">
            <a:spAutoFit/>
          </a:bodyPr>
          <a:lstStyle/>
          <a:p>
            <a:r>
              <a:rPr kumimoji="1" lang="ja-JP" altLang="en-US" sz="2400" b="1" dirty="0"/>
              <a:t>ステージ</a:t>
            </a:r>
            <a:endParaRPr kumimoji="1" lang="en-US" altLang="ja-JP" sz="2400" b="1" dirty="0"/>
          </a:p>
          <a:p>
            <a:r>
              <a:rPr lang="ja-JP" altLang="en-US" sz="2400" b="1" dirty="0"/>
              <a:t>・画面全体を切り替えてマップ移動</a:t>
            </a:r>
            <a:endParaRPr lang="en-US" altLang="ja-JP" sz="2400" b="1" dirty="0"/>
          </a:p>
          <a:p>
            <a:r>
              <a:rPr kumimoji="1" lang="ja-JP" altLang="en-US" sz="2400" b="1" dirty="0"/>
              <a:t>・ギミック多め　ステージ少なめ</a:t>
            </a:r>
            <a:endParaRPr kumimoji="1" lang="en-US" altLang="ja-JP" sz="2400" b="1" dirty="0"/>
          </a:p>
          <a:p>
            <a:r>
              <a:rPr lang="ja-JP" altLang="en-US" sz="2400" b="1" dirty="0"/>
              <a:t>・ステージのゴールにたどり着いたらステージクリア</a:t>
            </a:r>
            <a:endParaRPr lang="en-US" altLang="ja-JP" sz="2400" b="1" dirty="0"/>
          </a:p>
          <a:p>
            <a:r>
              <a:rPr lang="ja-JP" altLang="en-US" sz="2400" b="1" dirty="0"/>
              <a:t>・スポーン地点を真ん中の部屋にして左右に部屋２つ</a:t>
            </a:r>
            <a:r>
              <a:rPr lang="en-US" altLang="ja-JP" sz="2400" b="1" dirty="0"/>
              <a:t>(</a:t>
            </a:r>
            <a:r>
              <a:rPr lang="ja-JP" altLang="en-US" sz="2400" b="1" dirty="0"/>
              <a:t>計</a:t>
            </a:r>
            <a:r>
              <a:rPr lang="en-US" altLang="ja-JP" sz="2400" b="1" dirty="0"/>
              <a:t>3</a:t>
            </a:r>
            <a:r>
              <a:rPr lang="ja-JP" altLang="en-US" sz="2400" b="1" dirty="0"/>
              <a:t>つ</a:t>
            </a:r>
            <a:r>
              <a:rPr lang="en-US" altLang="ja-JP" sz="2400" b="1" dirty="0"/>
              <a:t>)</a:t>
            </a:r>
          </a:p>
          <a:p>
            <a:r>
              <a:rPr kumimoji="1" lang="ja-JP" altLang="en-US" sz="2400" b="1" dirty="0"/>
              <a:t>・大体５ステージ</a:t>
            </a:r>
            <a:endParaRPr kumimoji="1" lang="en-US" altLang="ja-JP" sz="2400" b="1" dirty="0"/>
          </a:p>
          <a:p>
            <a:r>
              <a:rPr lang="ja-JP" altLang="en-US" sz="2400" b="1" dirty="0"/>
              <a:t>・１ステージに２属性解放くらい</a:t>
            </a:r>
            <a:endParaRPr lang="en-US" altLang="ja-JP" sz="2400" b="1" dirty="0"/>
          </a:p>
          <a:p>
            <a:r>
              <a:rPr kumimoji="1" lang="ja-JP" altLang="en-US" sz="2400" b="1" dirty="0"/>
              <a:t>・</a:t>
            </a:r>
          </a:p>
        </p:txBody>
      </p:sp>
    </p:spTree>
    <p:extLst>
      <p:ext uri="{BB962C8B-B14F-4D97-AF65-F5344CB8AC3E}">
        <p14:creationId xmlns:p14="http://schemas.microsoft.com/office/powerpoint/2010/main" val="1371136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48A5E588-21F9-4EB2-B6D0-B9815DB7D989}"/>
              </a:ext>
            </a:extLst>
          </p:cNvPr>
          <p:cNvSpPr txBox="1"/>
          <p:nvPr/>
        </p:nvSpPr>
        <p:spPr>
          <a:xfrm>
            <a:off x="0" y="165100"/>
            <a:ext cx="1415772" cy="461665"/>
          </a:xfrm>
          <a:prstGeom prst="rect">
            <a:avLst/>
          </a:prstGeom>
          <a:noFill/>
        </p:spPr>
        <p:txBody>
          <a:bodyPr wrap="none" rtlCol="0">
            <a:spAutoFit/>
          </a:bodyPr>
          <a:lstStyle/>
          <a:p>
            <a:r>
              <a:rPr kumimoji="1" lang="ja-JP" altLang="en-US" sz="2400" b="1" dirty="0"/>
              <a:t>ギミック</a:t>
            </a:r>
          </a:p>
        </p:txBody>
      </p:sp>
      <p:sp>
        <p:nvSpPr>
          <p:cNvPr id="5" name="テキスト ボックス 4">
            <a:extLst>
              <a:ext uri="{FF2B5EF4-FFF2-40B4-BE49-F238E27FC236}">
                <a16:creationId xmlns:a16="http://schemas.microsoft.com/office/drawing/2014/main" id="{47F7347A-29CB-4C01-8514-32C3ED84B27F}"/>
              </a:ext>
            </a:extLst>
          </p:cNvPr>
          <p:cNvSpPr txBox="1"/>
          <p:nvPr/>
        </p:nvSpPr>
        <p:spPr>
          <a:xfrm>
            <a:off x="0" y="626765"/>
            <a:ext cx="8293100" cy="5632311"/>
          </a:xfrm>
          <a:prstGeom prst="rect">
            <a:avLst/>
          </a:prstGeom>
          <a:noFill/>
        </p:spPr>
        <p:txBody>
          <a:bodyPr wrap="square" rtlCol="0">
            <a:spAutoFit/>
          </a:bodyPr>
          <a:lstStyle/>
          <a:p>
            <a:r>
              <a:rPr lang="ja-JP" altLang="en-US" b="1" dirty="0"/>
              <a:t>火</a:t>
            </a:r>
            <a:endParaRPr lang="en-US" altLang="ja-JP" b="1" dirty="0"/>
          </a:p>
          <a:p>
            <a:r>
              <a:rPr kumimoji="1" lang="ja-JP" altLang="en-US" b="1" dirty="0"/>
              <a:t>・火をつけて気球を飛ばす</a:t>
            </a:r>
            <a:endParaRPr kumimoji="1" lang="en-US" altLang="ja-JP" b="1" dirty="0"/>
          </a:p>
          <a:p>
            <a:r>
              <a:rPr lang="ja-JP" altLang="en-US" b="1" dirty="0"/>
              <a:t>・氷を解かす</a:t>
            </a:r>
            <a:endParaRPr lang="en-US" altLang="ja-JP" b="1" dirty="0"/>
          </a:p>
          <a:p>
            <a:r>
              <a:rPr lang="ja-JP" altLang="en-US" b="1" dirty="0"/>
              <a:t>・絡まったツルを燃やす</a:t>
            </a:r>
            <a:endParaRPr lang="en-US" altLang="ja-JP" b="1" dirty="0"/>
          </a:p>
          <a:p>
            <a:r>
              <a:rPr kumimoji="1" lang="ja-JP" altLang="en-US" b="1" dirty="0"/>
              <a:t>水</a:t>
            </a:r>
            <a:endParaRPr kumimoji="1" lang="en-US" altLang="ja-JP" b="1" dirty="0"/>
          </a:p>
          <a:p>
            <a:r>
              <a:rPr kumimoji="1" lang="ja-JP" altLang="en-US" b="1" dirty="0"/>
              <a:t>・火を消す</a:t>
            </a:r>
            <a:endParaRPr kumimoji="1" lang="en-US" altLang="ja-JP" b="1" dirty="0"/>
          </a:p>
          <a:p>
            <a:r>
              <a:rPr kumimoji="1" lang="ja-JP" altLang="en-US" b="1" dirty="0"/>
              <a:t>・植物</a:t>
            </a:r>
            <a:r>
              <a:rPr lang="ja-JP" altLang="en-US" b="1" dirty="0"/>
              <a:t>を</a:t>
            </a:r>
            <a:r>
              <a:rPr kumimoji="1" lang="ja-JP" altLang="en-US" b="1" dirty="0"/>
              <a:t>育てて足場に</a:t>
            </a:r>
            <a:endParaRPr kumimoji="1" lang="en-US" altLang="ja-JP" b="1" dirty="0"/>
          </a:p>
          <a:p>
            <a:r>
              <a:rPr kumimoji="1" lang="ja-JP" altLang="en-US" b="1" dirty="0"/>
              <a:t>雷</a:t>
            </a:r>
            <a:endParaRPr kumimoji="1" lang="en-US" altLang="ja-JP" b="1" dirty="0"/>
          </a:p>
          <a:p>
            <a:r>
              <a:rPr lang="ja-JP" altLang="en-US" b="1" dirty="0"/>
              <a:t>・充電器の充電</a:t>
            </a:r>
            <a:endParaRPr kumimoji="1" lang="en-US" altLang="ja-JP" b="1" dirty="0"/>
          </a:p>
          <a:p>
            <a:r>
              <a:rPr lang="ja-JP" altLang="en-US" b="1" dirty="0"/>
              <a:t>風</a:t>
            </a:r>
            <a:endParaRPr lang="en-US" altLang="ja-JP" b="1" dirty="0"/>
          </a:p>
          <a:p>
            <a:r>
              <a:rPr lang="ja-JP" altLang="en-US" b="1" dirty="0"/>
              <a:t>・風車を回す</a:t>
            </a:r>
            <a:endParaRPr lang="en-US" altLang="ja-JP" b="1" dirty="0"/>
          </a:p>
          <a:p>
            <a:r>
              <a:rPr lang="ja-JP" altLang="en-US" b="1" dirty="0"/>
              <a:t>・風を吹かせて物を運ぶ</a:t>
            </a:r>
            <a:endParaRPr lang="en-US" altLang="ja-JP" b="1" dirty="0"/>
          </a:p>
          <a:p>
            <a:r>
              <a:rPr kumimoji="1" lang="ja-JP" altLang="en-US" b="1" dirty="0"/>
              <a:t>土</a:t>
            </a:r>
            <a:endParaRPr kumimoji="1" lang="en-US" altLang="ja-JP" b="1" dirty="0"/>
          </a:p>
          <a:p>
            <a:r>
              <a:rPr lang="ja-JP" altLang="en-US" b="1" dirty="0"/>
              <a:t>・穴を埋める</a:t>
            </a:r>
            <a:endParaRPr kumimoji="1" lang="en-US" altLang="ja-JP" b="1" dirty="0"/>
          </a:p>
          <a:p>
            <a:r>
              <a:rPr lang="ja-JP" altLang="en-US" b="1" dirty="0"/>
              <a:t>氷</a:t>
            </a:r>
            <a:endParaRPr lang="en-US" altLang="ja-JP" b="1" dirty="0"/>
          </a:p>
          <a:p>
            <a:r>
              <a:rPr lang="ja-JP" altLang="en-US" b="1" dirty="0"/>
              <a:t>・水を凍らせる</a:t>
            </a:r>
            <a:endParaRPr lang="en-US" altLang="ja-JP" b="1" dirty="0"/>
          </a:p>
          <a:p>
            <a:r>
              <a:rPr lang="ja-JP" altLang="en-US" b="1" dirty="0"/>
              <a:t>・足場を凍らせて重いものを運ぶ</a:t>
            </a:r>
            <a:endParaRPr lang="en-US" altLang="ja-JP" b="1" dirty="0"/>
          </a:p>
          <a:p>
            <a:r>
              <a:rPr kumimoji="1" lang="ja-JP" altLang="en-US" b="1" dirty="0"/>
              <a:t>金属</a:t>
            </a:r>
            <a:endParaRPr kumimoji="1" lang="en-US" altLang="ja-JP" b="1" dirty="0"/>
          </a:p>
          <a:p>
            <a:r>
              <a:rPr kumimoji="1" lang="ja-JP" altLang="en-US" b="1" dirty="0"/>
              <a:t>・おもりにしてドアを開ける</a:t>
            </a:r>
            <a:endParaRPr kumimoji="1" lang="en-US" altLang="ja-JP" b="1" dirty="0"/>
          </a:p>
          <a:p>
            <a:endParaRPr lang="en-US" altLang="ja-JP" b="1" dirty="0"/>
          </a:p>
        </p:txBody>
      </p:sp>
      <p:sp>
        <p:nvSpPr>
          <p:cNvPr id="2" name="テキスト ボックス 1">
            <a:extLst>
              <a:ext uri="{FF2B5EF4-FFF2-40B4-BE49-F238E27FC236}">
                <a16:creationId xmlns:a16="http://schemas.microsoft.com/office/drawing/2014/main" id="{CE6C5DEC-BC22-4BB3-BD5F-D2BB46836716}"/>
              </a:ext>
            </a:extLst>
          </p:cNvPr>
          <p:cNvSpPr txBox="1"/>
          <p:nvPr/>
        </p:nvSpPr>
        <p:spPr>
          <a:xfrm>
            <a:off x="6781800" y="880765"/>
            <a:ext cx="3647152" cy="923330"/>
          </a:xfrm>
          <a:prstGeom prst="rect">
            <a:avLst/>
          </a:prstGeom>
          <a:noFill/>
        </p:spPr>
        <p:txBody>
          <a:bodyPr wrap="none" rtlCol="0">
            <a:spAutoFit/>
          </a:bodyPr>
          <a:lstStyle/>
          <a:p>
            <a:r>
              <a:rPr kumimoji="1" lang="ja-JP" altLang="en-US" b="1" dirty="0"/>
              <a:t>・指定した場所への遠隔での落雷</a:t>
            </a:r>
            <a:endParaRPr kumimoji="1" lang="en-US" altLang="ja-JP" b="1" dirty="0"/>
          </a:p>
          <a:p>
            <a:r>
              <a:rPr lang="ja-JP" altLang="en-US" b="1" dirty="0"/>
              <a:t>・爆弾による爆破</a:t>
            </a:r>
            <a:r>
              <a:rPr lang="en-US" altLang="ja-JP" b="1" dirty="0"/>
              <a:t>(</a:t>
            </a:r>
            <a:r>
              <a:rPr lang="ja-JP" altLang="en-US" b="1" dirty="0"/>
              <a:t>障害物の破壊</a:t>
            </a:r>
            <a:r>
              <a:rPr lang="en-US" altLang="ja-JP" b="1" dirty="0"/>
              <a:t>)</a:t>
            </a:r>
          </a:p>
          <a:p>
            <a:endParaRPr kumimoji="1" lang="ja-JP" altLang="en-US" dirty="0"/>
          </a:p>
        </p:txBody>
      </p:sp>
    </p:spTree>
    <p:extLst>
      <p:ext uri="{BB962C8B-B14F-4D97-AF65-F5344CB8AC3E}">
        <p14:creationId xmlns:p14="http://schemas.microsoft.com/office/powerpoint/2010/main" val="3634880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06C22A1-9702-47A0-B058-D2F4B36239D5}"/>
              </a:ext>
            </a:extLst>
          </p:cNvPr>
          <p:cNvSpPr txBox="1"/>
          <p:nvPr/>
        </p:nvSpPr>
        <p:spPr>
          <a:xfrm>
            <a:off x="234950" y="346288"/>
            <a:ext cx="1873251" cy="461665"/>
          </a:xfrm>
          <a:prstGeom prst="rect">
            <a:avLst/>
          </a:prstGeom>
          <a:noFill/>
        </p:spPr>
        <p:txBody>
          <a:bodyPr wrap="square" rtlCol="0">
            <a:spAutoFit/>
          </a:bodyPr>
          <a:lstStyle/>
          <a:p>
            <a:r>
              <a:rPr lang="ja-JP" altLang="en-US" sz="2400" b="1" dirty="0"/>
              <a:t>操作</a:t>
            </a:r>
            <a:endParaRPr lang="en-US" altLang="ja-JP" sz="2400" b="1" dirty="0"/>
          </a:p>
        </p:txBody>
      </p:sp>
      <p:graphicFrame>
        <p:nvGraphicFramePr>
          <p:cNvPr id="5" name="表 5">
            <a:extLst>
              <a:ext uri="{FF2B5EF4-FFF2-40B4-BE49-F238E27FC236}">
                <a16:creationId xmlns:a16="http://schemas.microsoft.com/office/drawing/2014/main" id="{A7B97371-F8D0-457A-AF59-4E786BA01457}"/>
              </a:ext>
            </a:extLst>
          </p:cNvPr>
          <p:cNvGraphicFramePr>
            <a:graphicFrameLocks noGrp="1"/>
          </p:cNvGraphicFramePr>
          <p:nvPr>
            <p:extLst>
              <p:ext uri="{D42A27DB-BD31-4B8C-83A1-F6EECF244321}">
                <p14:modId xmlns:p14="http://schemas.microsoft.com/office/powerpoint/2010/main" val="3619473718"/>
              </p:ext>
            </p:extLst>
          </p:nvPr>
        </p:nvGraphicFramePr>
        <p:xfrm>
          <a:off x="271849" y="1048172"/>
          <a:ext cx="7005251" cy="3293536"/>
        </p:xfrm>
        <a:graphic>
          <a:graphicData uri="http://schemas.openxmlformats.org/drawingml/2006/table">
            <a:tbl>
              <a:tblPr firstRow="1" bandRow="1">
                <a:tableStyleId>{5C22544A-7EE6-4342-B048-85BDC9FD1C3A}</a:tableStyleId>
              </a:tblPr>
              <a:tblGrid>
                <a:gridCol w="2323185">
                  <a:extLst>
                    <a:ext uri="{9D8B030D-6E8A-4147-A177-3AD203B41FA5}">
                      <a16:colId xmlns:a16="http://schemas.microsoft.com/office/drawing/2014/main" val="3552947163"/>
                    </a:ext>
                  </a:extLst>
                </a:gridCol>
                <a:gridCol w="2341033">
                  <a:extLst>
                    <a:ext uri="{9D8B030D-6E8A-4147-A177-3AD203B41FA5}">
                      <a16:colId xmlns:a16="http://schemas.microsoft.com/office/drawing/2014/main" val="2645119673"/>
                    </a:ext>
                  </a:extLst>
                </a:gridCol>
                <a:gridCol w="2341033">
                  <a:extLst>
                    <a:ext uri="{9D8B030D-6E8A-4147-A177-3AD203B41FA5}">
                      <a16:colId xmlns:a16="http://schemas.microsoft.com/office/drawing/2014/main" val="3953348475"/>
                    </a:ext>
                  </a:extLst>
                </a:gridCol>
              </a:tblGrid>
              <a:tr h="312244">
                <a:tc>
                  <a:txBody>
                    <a:bodyPr/>
                    <a:lstStyle/>
                    <a:p>
                      <a:r>
                        <a:rPr kumimoji="1" lang="ja-JP" altLang="en-US" dirty="0"/>
                        <a:t>キーボード</a:t>
                      </a:r>
                    </a:p>
                  </a:txBody>
                  <a:tcPr/>
                </a:tc>
                <a:tc>
                  <a:txBody>
                    <a:bodyPr/>
                    <a:lstStyle/>
                    <a:p>
                      <a:r>
                        <a:rPr kumimoji="1" lang="ja-JP" altLang="en-US" dirty="0"/>
                        <a:t>ゲームパッド</a:t>
                      </a:r>
                    </a:p>
                  </a:txBody>
                  <a:tcPr/>
                </a:tc>
                <a:tc>
                  <a:txBody>
                    <a:bodyPr/>
                    <a:lstStyle/>
                    <a:p>
                      <a:endParaRPr kumimoji="1" lang="ja-JP" altLang="en-US"/>
                    </a:p>
                  </a:txBody>
                  <a:tcPr/>
                </a:tc>
                <a:extLst>
                  <a:ext uri="{0D108BD9-81ED-4DB2-BD59-A6C34878D82A}">
                    <a16:rowId xmlns:a16="http://schemas.microsoft.com/office/drawing/2014/main" val="248609186"/>
                  </a:ext>
                </a:extLst>
              </a:tr>
              <a:tr h="312244">
                <a:tc>
                  <a:txBody>
                    <a:bodyPr/>
                    <a:lstStyle/>
                    <a:p>
                      <a:r>
                        <a:rPr kumimoji="1" lang="ja-JP" altLang="en-US" dirty="0"/>
                        <a:t>→</a:t>
                      </a:r>
                    </a:p>
                  </a:txBody>
                  <a:tcPr/>
                </a:tc>
                <a:tc>
                  <a:txBody>
                    <a:bodyPr/>
                    <a:lstStyle/>
                    <a:p>
                      <a:r>
                        <a:rPr kumimoji="1" lang="ja-JP" altLang="en-US" dirty="0"/>
                        <a:t>十字キー</a:t>
                      </a:r>
                      <a:r>
                        <a:rPr kumimoji="1" lang="en-US" altLang="ja-JP" dirty="0"/>
                        <a:t>(</a:t>
                      </a:r>
                      <a:r>
                        <a:rPr kumimoji="1" lang="ja-JP" altLang="en-US" dirty="0"/>
                        <a:t>右</a:t>
                      </a:r>
                      <a:r>
                        <a:rPr kumimoji="1" lang="en-US" altLang="ja-JP" dirty="0"/>
                        <a:t>)</a:t>
                      </a:r>
                      <a:endParaRPr kumimoji="1" lang="ja-JP" altLang="en-US" dirty="0"/>
                    </a:p>
                  </a:txBody>
                  <a:tcPr/>
                </a:tc>
                <a:tc>
                  <a:txBody>
                    <a:bodyPr/>
                    <a:lstStyle/>
                    <a:p>
                      <a:r>
                        <a:rPr kumimoji="1" lang="ja-JP" altLang="en-US" dirty="0"/>
                        <a:t>右に移動</a:t>
                      </a:r>
                    </a:p>
                  </a:txBody>
                  <a:tcPr/>
                </a:tc>
                <a:extLst>
                  <a:ext uri="{0D108BD9-81ED-4DB2-BD59-A6C34878D82A}">
                    <a16:rowId xmlns:a16="http://schemas.microsoft.com/office/drawing/2014/main" val="2456957493"/>
                  </a:ext>
                </a:extLst>
              </a:tr>
              <a:tr h="3122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a:t>
                      </a:r>
                    </a:p>
                  </a:txBody>
                  <a:tcPr/>
                </a:tc>
                <a:tc>
                  <a:txBody>
                    <a:bodyPr/>
                    <a:lstStyle/>
                    <a:p>
                      <a:r>
                        <a:rPr kumimoji="1" lang="ja-JP" altLang="en-US" dirty="0"/>
                        <a:t>十字キー</a:t>
                      </a:r>
                      <a:r>
                        <a:rPr kumimoji="1" lang="en-US" altLang="ja-JP" dirty="0"/>
                        <a:t>(</a:t>
                      </a:r>
                      <a:r>
                        <a:rPr kumimoji="1" lang="ja-JP" altLang="en-US" dirty="0"/>
                        <a:t>左</a:t>
                      </a:r>
                      <a:r>
                        <a:rPr kumimoji="1" lang="en-US" altLang="ja-JP" dirty="0"/>
                        <a:t>)</a:t>
                      </a:r>
                      <a:endParaRPr kumimoji="1" lang="ja-JP" altLang="en-US" dirty="0"/>
                    </a:p>
                  </a:txBody>
                  <a:tcPr/>
                </a:tc>
                <a:tc>
                  <a:txBody>
                    <a:bodyPr/>
                    <a:lstStyle/>
                    <a:p>
                      <a:r>
                        <a:rPr kumimoji="1" lang="ja-JP" altLang="en-US" dirty="0"/>
                        <a:t>左に移動</a:t>
                      </a:r>
                    </a:p>
                  </a:txBody>
                  <a:tcPr/>
                </a:tc>
                <a:extLst>
                  <a:ext uri="{0D108BD9-81ED-4DB2-BD59-A6C34878D82A}">
                    <a16:rowId xmlns:a16="http://schemas.microsoft.com/office/drawing/2014/main" val="3691459506"/>
                  </a:ext>
                </a:extLst>
              </a:tr>
              <a:tr h="312244">
                <a:tc>
                  <a:txBody>
                    <a:bodyPr/>
                    <a:lstStyle/>
                    <a:p>
                      <a:r>
                        <a:rPr kumimoji="1" lang="ja-JP" altLang="en-US" dirty="0"/>
                        <a:t>← </a:t>
                      </a:r>
                      <a:r>
                        <a:rPr kumimoji="1" lang="en-US" altLang="ja-JP" dirty="0"/>
                        <a:t>, </a:t>
                      </a:r>
                      <a:r>
                        <a:rPr kumimoji="1" lang="ja-JP" altLang="en-US" dirty="0"/>
                        <a:t>→  </a:t>
                      </a:r>
                      <a:r>
                        <a:rPr kumimoji="1" lang="en-US" altLang="ja-JP" dirty="0"/>
                        <a:t>2</a:t>
                      </a:r>
                      <a:r>
                        <a:rPr kumimoji="1" lang="ja-JP" altLang="en-US" dirty="0"/>
                        <a:t>連打</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十字キー</a:t>
                      </a:r>
                      <a:r>
                        <a:rPr kumimoji="1" lang="en-US" altLang="ja-JP" dirty="0"/>
                        <a:t>(</a:t>
                      </a:r>
                      <a:r>
                        <a:rPr kumimoji="1" lang="ja-JP" altLang="en-US" dirty="0"/>
                        <a:t>左</a:t>
                      </a:r>
                      <a:r>
                        <a:rPr kumimoji="1" lang="en-US" altLang="ja-JP" dirty="0"/>
                        <a:t>,</a:t>
                      </a:r>
                      <a:r>
                        <a:rPr kumimoji="1" lang="ja-JP" altLang="en-US" dirty="0"/>
                        <a:t>右</a:t>
                      </a:r>
                      <a:r>
                        <a:rPr kumimoji="1" lang="en-US" altLang="ja-JP" dirty="0"/>
                        <a:t>)</a:t>
                      </a:r>
                      <a:endParaRPr kumimoji="1" lang="ja-JP" altLang="en-US" dirty="0"/>
                    </a:p>
                  </a:txBody>
                  <a:tcPr/>
                </a:tc>
                <a:tc>
                  <a:txBody>
                    <a:bodyPr/>
                    <a:lstStyle/>
                    <a:p>
                      <a:r>
                        <a:rPr kumimoji="1" lang="ja-JP" altLang="en-US" dirty="0"/>
                        <a:t>走る</a:t>
                      </a:r>
                    </a:p>
                  </a:txBody>
                  <a:tcPr/>
                </a:tc>
                <a:extLst>
                  <a:ext uri="{0D108BD9-81ED-4DB2-BD59-A6C34878D82A}">
                    <a16:rowId xmlns:a16="http://schemas.microsoft.com/office/drawing/2014/main" val="3936166385"/>
                  </a:ext>
                </a:extLst>
              </a:tr>
              <a:tr h="312244">
                <a:tc>
                  <a:txBody>
                    <a:bodyPr/>
                    <a:lstStyle/>
                    <a:p>
                      <a:r>
                        <a:rPr kumimoji="1" lang="ja-JP" altLang="en-US" dirty="0"/>
                        <a:t>↑</a:t>
                      </a:r>
                    </a:p>
                  </a:txBody>
                  <a:tcPr/>
                </a:tc>
                <a:tc>
                  <a:txBody>
                    <a:bodyPr/>
                    <a:lstStyle/>
                    <a:p>
                      <a:r>
                        <a:rPr kumimoji="1" lang="en-US" altLang="ja-JP" dirty="0"/>
                        <a:t>B</a:t>
                      </a:r>
                      <a:endParaRPr kumimoji="1" lang="ja-JP" altLang="en-US" dirty="0"/>
                    </a:p>
                  </a:txBody>
                  <a:tcPr/>
                </a:tc>
                <a:tc>
                  <a:txBody>
                    <a:bodyPr/>
                    <a:lstStyle/>
                    <a:p>
                      <a:r>
                        <a:rPr kumimoji="1" lang="ja-JP" altLang="en-US" dirty="0"/>
                        <a:t>ジャンプ</a:t>
                      </a:r>
                    </a:p>
                  </a:txBody>
                  <a:tcPr/>
                </a:tc>
                <a:extLst>
                  <a:ext uri="{0D108BD9-81ED-4DB2-BD59-A6C34878D82A}">
                    <a16:rowId xmlns:a16="http://schemas.microsoft.com/office/drawing/2014/main" val="354492110"/>
                  </a:ext>
                </a:extLst>
              </a:tr>
              <a:tr h="412328">
                <a:tc>
                  <a:txBody>
                    <a:bodyPr/>
                    <a:lstStyle/>
                    <a:p>
                      <a:r>
                        <a:rPr kumimoji="1" lang="en-US" altLang="ja-JP" dirty="0"/>
                        <a:t>X</a:t>
                      </a:r>
                      <a:endParaRPr kumimoji="1" lang="ja-JP" altLang="en-US" dirty="0"/>
                    </a:p>
                  </a:txBody>
                  <a:tcPr/>
                </a:tc>
                <a:tc>
                  <a:txBody>
                    <a:bodyPr/>
                    <a:lstStyle/>
                    <a:p>
                      <a:r>
                        <a:rPr kumimoji="1" lang="en-US" altLang="ja-JP" dirty="0"/>
                        <a:t>Y</a:t>
                      </a:r>
                      <a:endParaRPr kumimoji="1" lang="ja-JP" altLang="en-US" dirty="0"/>
                    </a:p>
                  </a:txBody>
                  <a:tcPr/>
                </a:tc>
                <a:tc>
                  <a:txBody>
                    <a:bodyPr/>
                    <a:lstStyle/>
                    <a:p>
                      <a:r>
                        <a:rPr kumimoji="1" lang="ja-JP" altLang="en-US" dirty="0"/>
                        <a:t>属性を出す</a:t>
                      </a:r>
                    </a:p>
                  </a:txBody>
                  <a:tcPr/>
                </a:tc>
                <a:extLst>
                  <a:ext uri="{0D108BD9-81ED-4DB2-BD59-A6C34878D82A}">
                    <a16:rowId xmlns:a16="http://schemas.microsoft.com/office/drawing/2014/main" val="3349197290"/>
                  </a:ext>
                </a:extLst>
              </a:tr>
              <a:tr h="412328">
                <a:tc>
                  <a:txBody>
                    <a:bodyPr/>
                    <a:lstStyle/>
                    <a:p>
                      <a:r>
                        <a:rPr kumimoji="1" lang="en-US" altLang="ja-JP" dirty="0"/>
                        <a:t>Z</a:t>
                      </a:r>
                      <a:endParaRPr kumimoji="1" lang="ja-JP" altLang="en-US" dirty="0"/>
                    </a:p>
                  </a:txBody>
                  <a:tcPr/>
                </a:tc>
                <a:tc>
                  <a:txBody>
                    <a:bodyPr/>
                    <a:lstStyle/>
                    <a:p>
                      <a:r>
                        <a:rPr kumimoji="1" lang="en-US" altLang="ja-JP" dirty="0"/>
                        <a:t>X</a:t>
                      </a:r>
                      <a:endParaRPr kumimoji="1" lang="ja-JP" altLang="en-US" dirty="0"/>
                    </a:p>
                  </a:txBody>
                  <a:tcPr/>
                </a:tc>
                <a:tc>
                  <a:txBody>
                    <a:bodyPr/>
                    <a:lstStyle/>
                    <a:p>
                      <a:r>
                        <a:rPr kumimoji="1" lang="ja-JP" altLang="en-US" dirty="0"/>
                        <a:t>属性の選択</a:t>
                      </a:r>
                      <a:r>
                        <a:rPr kumimoji="1" lang="en-US" altLang="ja-JP" dirty="0"/>
                        <a:t>(</a:t>
                      </a:r>
                      <a:r>
                        <a:rPr kumimoji="1" lang="ja-JP" altLang="en-US" dirty="0"/>
                        <a:t>ダイレクトに切り替え</a:t>
                      </a:r>
                      <a:r>
                        <a:rPr kumimoji="1" lang="en-US" altLang="ja-JP" dirty="0"/>
                        <a:t>)</a:t>
                      </a:r>
                    </a:p>
                  </a:txBody>
                  <a:tcPr/>
                </a:tc>
                <a:extLst>
                  <a:ext uri="{0D108BD9-81ED-4DB2-BD59-A6C34878D82A}">
                    <a16:rowId xmlns:a16="http://schemas.microsoft.com/office/drawing/2014/main" val="1037643415"/>
                  </a:ext>
                </a:extLst>
              </a:tr>
              <a:tr h="412328">
                <a:tc>
                  <a:txBody>
                    <a:bodyPr/>
                    <a:lstStyle/>
                    <a:p>
                      <a:r>
                        <a:rPr kumimoji="1" lang="en-US" altLang="ja-JP" dirty="0"/>
                        <a:t>C</a:t>
                      </a:r>
                      <a:endParaRPr kumimoji="1" lang="ja-JP" altLang="en-US" dirty="0"/>
                    </a:p>
                  </a:txBody>
                  <a:tcPr/>
                </a:tc>
                <a:tc>
                  <a:txBody>
                    <a:bodyPr/>
                    <a:lstStyle/>
                    <a:p>
                      <a:r>
                        <a:rPr kumimoji="1" lang="en-US" altLang="ja-JP" dirty="0"/>
                        <a:t>A</a:t>
                      </a:r>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投げる</a:t>
                      </a:r>
                      <a:r>
                        <a:rPr kumimoji="1" lang="en-US" altLang="ja-JP" dirty="0"/>
                        <a:t>(</a:t>
                      </a:r>
                      <a:r>
                        <a:rPr kumimoji="1" lang="ja-JP" altLang="en-US" dirty="0"/>
                        <a:t>固定</a:t>
                      </a:r>
                      <a:r>
                        <a:rPr kumimoji="1" lang="en-US" altLang="ja-JP" dirty="0"/>
                        <a:t>45</a:t>
                      </a:r>
                      <a:r>
                        <a:rPr kumimoji="1" lang="ja-JP" altLang="en-US" dirty="0"/>
                        <a:t>度</a:t>
                      </a:r>
                      <a:r>
                        <a:rPr kumimoji="1" lang="en-US" altLang="ja-JP" dirty="0"/>
                        <a:t>)</a:t>
                      </a:r>
                      <a:endParaRPr kumimoji="1" lang="ja-JP" altLang="en-US" dirty="0"/>
                    </a:p>
                  </a:txBody>
                  <a:tcPr/>
                </a:tc>
                <a:extLst>
                  <a:ext uri="{0D108BD9-81ED-4DB2-BD59-A6C34878D82A}">
                    <a16:rowId xmlns:a16="http://schemas.microsoft.com/office/drawing/2014/main" val="1640731407"/>
                  </a:ext>
                </a:extLst>
              </a:tr>
            </a:tbl>
          </a:graphicData>
        </a:graphic>
      </p:graphicFrame>
    </p:spTree>
    <p:extLst>
      <p:ext uri="{BB962C8B-B14F-4D97-AF65-F5344CB8AC3E}">
        <p14:creationId xmlns:p14="http://schemas.microsoft.com/office/powerpoint/2010/main" val="2239409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3C21431-EE9C-4B0B-8EAB-820D2D654234}"/>
              </a:ext>
            </a:extLst>
          </p:cNvPr>
          <p:cNvSpPr txBox="1"/>
          <p:nvPr/>
        </p:nvSpPr>
        <p:spPr>
          <a:xfrm>
            <a:off x="279400" y="177800"/>
            <a:ext cx="492443" cy="461665"/>
          </a:xfrm>
          <a:prstGeom prst="rect">
            <a:avLst/>
          </a:prstGeom>
          <a:noFill/>
        </p:spPr>
        <p:txBody>
          <a:bodyPr wrap="none" rtlCol="0">
            <a:spAutoFit/>
          </a:bodyPr>
          <a:lstStyle/>
          <a:p>
            <a:r>
              <a:rPr kumimoji="1" lang="ja-JP" altLang="en-US" sz="2400" b="1" dirty="0"/>
              <a:t>敵</a:t>
            </a:r>
          </a:p>
        </p:txBody>
      </p:sp>
      <p:sp>
        <p:nvSpPr>
          <p:cNvPr id="4" name="テキスト ボックス 3">
            <a:extLst>
              <a:ext uri="{FF2B5EF4-FFF2-40B4-BE49-F238E27FC236}">
                <a16:creationId xmlns:a16="http://schemas.microsoft.com/office/drawing/2014/main" id="{E147FDEB-88D1-4424-BA7A-DC0919BAEC27}"/>
              </a:ext>
            </a:extLst>
          </p:cNvPr>
          <p:cNvSpPr txBox="1"/>
          <p:nvPr/>
        </p:nvSpPr>
        <p:spPr>
          <a:xfrm>
            <a:off x="771842" y="1320800"/>
            <a:ext cx="4866957" cy="646331"/>
          </a:xfrm>
          <a:prstGeom prst="rect">
            <a:avLst/>
          </a:prstGeom>
          <a:noFill/>
        </p:spPr>
        <p:txBody>
          <a:bodyPr wrap="square" rtlCol="0">
            <a:spAutoFit/>
          </a:bodyPr>
          <a:lstStyle/>
          <a:p>
            <a:pPr marL="0" algn="l" rtl="0" eaLnBrk="1" fontAlgn="t" latinLnBrk="0" hangingPunct="1">
              <a:spcBef>
                <a:spcPts val="0"/>
              </a:spcBef>
              <a:spcAft>
                <a:spcPts val="0"/>
              </a:spcAft>
            </a:pPr>
            <a:endParaRPr lang="en-US" altLang="ja-JP" b="1" dirty="0">
              <a:solidFill>
                <a:srgbClr val="FFFFFF"/>
              </a:solidFill>
              <a:latin typeface="游ゴシック" panose="020B0400000000000000" pitchFamily="50" charset="-128"/>
            </a:endParaRPr>
          </a:p>
          <a:p>
            <a:endParaRPr kumimoji="1" lang="ja-JP" altLang="en-US" dirty="0"/>
          </a:p>
        </p:txBody>
      </p:sp>
      <p:sp>
        <p:nvSpPr>
          <p:cNvPr id="5" name="テキスト ボックス 4">
            <a:extLst>
              <a:ext uri="{FF2B5EF4-FFF2-40B4-BE49-F238E27FC236}">
                <a16:creationId xmlns:a16="http://schemas.microsoft.com/office/drawing/2014/main" id="{FDD78B2F-6AD9-465D-BBA8-D651F25E4ADB}"/>
              </a:ext>
            </a:extLst>
          </p:cNvPr>
          <p:cNvSpPr txBox="1"/>
          <p:nvPr/>
        </p:nvSpPr>
        <p:spPr>
          <a:xfrm>
            <a:off x="279400" y="639465"/>
            <a:ext cx="9105900" cy="2862322"/>
          </a:xfrm>
          <a:prstGeom prst="rect">
            <a:avLst/>
          </a:prstGeom>
          <a:noFill/>
        </p:spPr>
        <p:txBody>
          <a:bodyPr wrap="square" rtlCol="0">
            <a:spAutoFit/>
          </a:bodyPr>
          <a:lstStyle/>
          <a:p>
            <a:r>
              <a:rPr lang="ja-JP" altLang="en-US" b="1" dirty="0"/>
              <a:t>ダメージを受けるタイミング</a:t>
            </a:r>
            <a:endParaRPr lang="en-US" altLang="ja-JP" b="1" dirty="0"/>
          </a:p>
          <a:p>
            <a:r>
              <a:rPr kumimoji="1" lang="ja-JP" altLang="en-US" dirty="0"/>
              <a:t>・</a:t>
            </a:r>
            <a:r>
              <a:rPr kumimoji="1" lang="ja-JP" altLang="en-US" b="1" dirty="0"/>
              <a:t>踏まれたとき</a:t>
            </a:r>
            <a:endParaRPr kumimoji="1" lang="en-US" altLang="ja-JP" b="1" dirty="0"/>
          </a:p>
          <a:p>
            <a:r>
              <a:rPr lang="ja-JP" altLang="en-US" b="1" dirty="0"/>
              <a:t>・属性攻撃を受けた時</a:t>
            </a:r>
            <a:endParaRPr lang="en-US" altLang="ja-JP" b="1" dirty="0"/>
          </a:p>
          <a:p>
            <a:endParaRPr lang="en-US" altLang="ja-JP" b="1" dirty="0"/>
          </a:p>
          <a:p>
            <a:r>
              <a:rPr lang="ja-JP" altLang="en-US" b="1" dirty="0"/>
              <a:t>攻撃</a:t>
            </a:r>
            <a:r>
              <a:rPr lang="en-US" altLang="ja-JP" b="1" dirty="0"/>
              <a:t>1</a:t>
            </a:r>
            <a:r>
              <a:rPr lang="ja-JP" altLang="en-US" b="1" dirty="0"/>
              <a:t>発で倒れる</a:t>
            </a:r>
            <a:endParaRPr lang="en-US" altLang="ja-JP" b="1" dirty="0"/>
          </a:p>
          <a:p>
            <a:endParaRPr kumimoji="1" lang="en-US" altLang="ja-JP" b="1" dirty="0"/>
          </a:p>
          <a:p>
            <a:r>
              <a:rPr lang="ja-JP" altLang="en-US" b="1" dirty="0"/>
              <a:t>プレイヤー死亡→リスタート時は敵も復活させる</a:t>
            </a:r>
            <a:endParaRPr lang="en-US" altLang="ja-JP" b="1" dirty="0"/>
          </a:p>
          <a:p>
            <a:endParaRPr lang="en-US" altLang="ja-JP" b="1" dirty="0"/>
          </a:p>
          <a:p>
            <a:r>
              <a:rPr kumimoji="1" lang="ja-JP" altLang="en-US" b="1" dirty="0"/>
              <a:t>当たった属性に応じたエフェクト</a:t>
            </a:r>
            <a:endParaRPr kumimoji="1" lang="en-US" altLang="ja-JP" b="1" dirty="0"/>
          </a:p>
          <a:p>
            <a:r>
              <a:rPr lang="ja-JP" altLang="en-US" b="1" dirty="0"/>
              <a:t>属性が効かない敵には耐えているエフェクト</a:t>
            </a:r>
            <a:endParaRPr kumimoji="1" lang="ja-JP" altLang="en-US" b="1" dirty="0"/>
          </a:p>
        </p:txBody>
      </p:sp>
    </p:spTree>
    <p:extLst>
      <p:ext uri="{BB962C8B-B14F-4D97-AF65-F5344CB8AC3E}">
        <p14:creationId xmlns:p14="http://schemas.microsoft.com/office/powerpoint/2010/main" val="4021376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0B3E9866-BC85-4C99-8BB2-AD1DF801327B}"/>
              </a:ext>
            </a:extLst>
          </p:cNvPr>
          <p:cNvSpPr txBox="1"/>
          <p:nvPr/>
        </p:nvSpPr>
        <p:spPr>
          <a:xfrm>
            <a:off x="0" y="0"/>
            <a:ext cx="9994900" cy="6463308"/>
          </a:xfrm>
          <a:prstGeom prst="rect">
            <a:avLst/>
          </a:prstGeom>
          <a:noFill/>
        </p:spPr>
        <p:txBody>
          <a:bodyPr wrap="square">
            <a:spAutoFit/>
          </a:bodyPr>
          <a:lstStyle/>
          <a:p>
            <a:r>
              <a:rPr kumimoji="1" lang="ja-JP" altLang="en-US" sz="1800" b="1" i="0" u="none" strike="noStrike" kern="1200" dirty="0">
                <a:solidFill>
                  <a:srgbClr val="000000"/>
                </a:solidFill>
                <a:effectLst/>
                <a:latin typeface="游ゴシック" panose="020B0400000000000000" pitchFamily="50" charset="-128"/>
              </a:rPr>
              <a:t>・通常　歩いてくる</a:t>
            </a:r>
            <a:r>
              <a:rPr kumimoji="1" lang="en-US" altLang="ja-JP" sz="1800" b="1" i="0" u="none" strike="noStrike" kern="1200" dirty="0">
                <a:solidFill>
                  <a:srgbClr val="000000"/>
                </a:solidFill>
                <a:effectLst/>
                <a:latin typeface="游ゴシック" panose="020B0400000000000000" pitchFamily="50" charset="-128"/>
              </a:rPr>
              <a:t>(</a:t>
            </a:r>
            <a:r>
              <a:rPr kumimoji="1" lang="ja-JP" altLang="en-US" sz="1800" b="1" i="0" u="none" strike="noStrike" kern="1200" dirty="0">
                <a:solidFill>
                  <a:srgbClr val="000000"/>
                </a:solidFill>
                <a:effectLst/>
                <a:latin typeface="游ゴシック" panose="020B0400000000000000" pitchFamily="50" charset="-128"/>
              </a:rPr>
              <a:t>踏んで倒せる</a:t>
            </a:r>
            <a:r>
              <a:rPr kumimoji="1" lang="en-US" altLang="ja-JP" sz="1800" b="1" i="0" u="none" strike="noStrike" kern="1200" dirty="0">
                <a:solidFill>
                  <a:srgbClr val="000000"/>
                </a:solidFill>
                <a:effectLst/>
                <a:latin typeface="游ゴシック" panose="020B0400000000000000" pitchFamily="50" charset="-128"/>
              </a:rPr>
              <a:t>)</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a:p>
            <a:pPr fontAlgn="t"/>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遠距離</a:t>
            </a:r>
            <a:endParaRPr kumimoji="1" lang="en-US" altLang="ja-JP" sz="1800" b="1" i="0" u="none" strike="noStrike" kern="1200" dirty="0">
              <a:solidFill>
                <a:srgbClr val="000000"/>
              </a:solidFill>
              <a:effectLst/>
              <a:latin typeface="游ゴシック" panose="020B0400000000000000" pitchFamily="50" charset="-128"/>
            </a:endParaRPr>
          </a:p>
          <a:p>
            <a:pPr fontAlgn="t"/>
            <a:r>
              <a:rPr lang="ja-JP" altLang="en-US" b="1" dirty="0">
                <a:solidFill>
                  <a:srgbClr val="000000"/>
                </a:solidFill>
                <a:latin typeface="游ゴシック" panose="020B0400000000000000" pitchFamily="50" charset="-128"/>
              </a:rPr>
              <a:t>固定砲台てきな</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弧を描く軌道で攻撃してくる</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火</a:t>
            </a:r>
            <a:r>
              <a:rPr kumimoji="1" lang="ja-JP" altLang="en-US" sz="1800" b="1" i="0" u="none" strike="noStrike" kern="1200" dirty="0">
                <a:solidFill>
                  <a:srgbClr val="000000"/>
                </a:solidFill>
                <a:effectLst/>
                <a:latin typeface="游ゴシック" panose="020B0400000000000000" pitchFamily="50" charset="-128"/>
              </a:rPr>
              <a:t>しか</a:t>
            </a:r>
            <a:r>
              <a:rPr kumimoji="1" lang="ja-JP" altLang="ja-JP" sz="1800" b="1" i="0" u="none" strike="noStrike" kern="1200" dirty="0">
                <a:solidFill>
                  <a:srgbClr val="000000"/>
                </a:solidFill>
                <a:effectLst/>
                <a:latin typeface="游ゴシック" panose="020B0400000000000000" pitchFamily="50" charset="-128"/>
              </a:rPr>
              <a:t>効かない　通常</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火属性攻撃でしか倒せない</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雷</a:t>
            </a:r>
            <a:r>
              <a:rPr kumimoji="1" lang="ja-JP" altLang="en-US" sz="1800" b="1" i="0" u="none" strike="noStrike" kern="1200" dirty="0">
                <a:solidFill>
                  <a:srgbClr val="000000"/>
                </a:solidFill>
                <a:effectLst/>
                <a:latin typeface="游ゴシック" panose="020B0400000000000000" pitchFamily="50" charset="-128"/>
              </a:rPr>
              <a:t>しか</a:t>
            </a:r>
            <a:r>
              <a:rPr kumimoji="1" lang="ja-JP" altLang="ja-JP" sz="1800" b="1" i="0" u="none" strike="noStrike" kern="1200" dirty="0">
                <a:solidFill>
                  <a:srgbClr val="000000"/>
                </a:solidFill>
                <a:effectLst/>
                <a:latin typeface="游ゴシック" panose="020B0400000000000000" pitchFamily="50" charset="-128"/>
              </a:rPr>
              <a:t>効かない　通常</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雷属性攻撃でしか倒せない</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氷</a:t>
            </a:r>
            <a:r>
              <a:rPr kumimoji="1" lang="ja-JP" altLang="en-US" sz="1800" b="1" i="0" u="none" strike="noStrike" kern="1200" dirty="0">
                <a:solidFill>
                  <a:srgbClr val="000000"/>
                </a:solidFill>
                <a:effectLst/>
                <a:latin typeface="游ゴシック" panose="020B0400000000000000" pitchFamily="50" charset="-128"/>
              </a:rPr>
              <a:t>しか</a:t>
            </a:r>
            <a:r>
              <a:rPr kumimoji="1" lang="ja-JP" altLang="ja-JP" sz="1800" b="1" i="0" u="none" strike="noStrike" kern="1200" dirty="0">
                <a:solidFill>
                  <a:srgbClr val="000000"/>
                </a:solidFill>
                <a:effectLst/>
                <a:latin typeface="游ゴシック" panose="020B0400000000000000" pitchFamily="50" charset="-128"/>
              </a:rPr>
              <a:t>効かない　通常</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氷属性攻撃でしか倒せない</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p:txBody>
      </p:sp>
      <p:sp>
        <p:nvSpPr>
          <p:cNvPr id="4" name="テキスト ボックス 3">
            <a:extLst>
              <a:ext uri="{FF2B5EF4-FFF2-40B4-BE49-F238E27FC236}">
                <a16:creationId xmlns:a16="http://schemas.microsoft.com/office/drawing/2014/main" id="{A5C120F3-A542-4F15-A3EB-E0B6134D6715}"/>
              </a:ext>
            </a:extLst>
          </p:cNvPr>
          <p:cNvSpPr txBox="1"/>
          <p:nvPr/>
        </p:nvSpPr>
        <p:spPr>
          <a:xfrm>
            <a:off x="4103618" y="0"/>
            <a:ext cx="4570482" cy="3693319"/>
          </a:xfrm>
          <a:prstGeom prst="rect">
            <a:avLst/>
          </a:prstGeom>
          <a:noFill/>
        </p:spPr>
        <p:txBody>
          <a:bodyPr wrap="none" rtlCol="0">
            <a:spAutoFit/>
          </a:bodyPr>
          <a:lstStyle/>
          <a:p>
            <a:pPr fontAlgn="t"/>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飛んでくる</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直線移動</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ステージの端から端まで移動して画面外へ</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a:p>
            <a:pPr fontAlgn="t"/>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飛んでくる</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円移動</a:t>
            </a:r>
            <a:endParaRPr lang="en-US" altLang="ja-JP" b="1" dirty="0">
              <a:solidFill>
                <a:srgbClr val="000000"/>
              </a:solidFill>
              <a:latin typeface="游ゴシック" panose="020B0400000000000000" pitchFamily="50" charset="-128"/>
            </a:endParaRPr>
          </a:p>
          <a:p>
            <a:pPr fontAlgn="t"/>
            <a:r>
              <a:rPr lang="ja-JP" altLang="en-US" b="1" dirty="0">
                <a:solidFill>
                  <a:srgbClr val="000000"/>
                </a:solidFill>
                <a:latin typeface="游ゴシック" panose="020B0400000000000000" pitchFamily="50" charset="-128"/>
              </a:rPr>
              <a:t>ステージの端から端まで移動して画面外へ</a:t>
            </a:r>
            <a:endParaRPr lang="en-US" altLang="ja-JP" b="1" dirty="0">
              <a:solidFill>
                <a:srgbClr val="000000"/>
              </a:solidFill>
              <a:latin typeface="游ゴシック" panose="020B0400000000000000" pitchFamily="50" charset="-128"/>
            </a:endParaRPr>
          </a:p>
          <a:p>
            <a:pPr fontAlgn="t"/>
            <a:endParaRPr lang="en-US" altLang="ja-JP" b="1" dirty="0">
              <a:solidFill>
                <a:srgbClr val="000000"/>
              </a:solidFill>
              <a:latin typeface="游ゴシック" panose="020B0400000000000000" pitchFamily="50" charset="-128"/>
            </a:endParaRPr>
          </a:p>
          <a:p>
            <a:pPr fontAlgn="t"/>
            <a:r>
              <a:rPr kumimoji="1" lang="ja-JP" altLang="en-US" sz="1800" b="1" i="0" u="none" strike="noStrike" kern="1200" dirty="0">
                <a:solidFill>
                  <a:srgbClr val="000000"/>
                </a:solidFill>
                <a:effectLst/>
                <a:latin typeface="游ゴシック" panose="020B0400000000000000" pitchFamily="50" charset="-128"/>
              </a:rPr>
              <a:t>・通常　歩いてくる</a:t>
            </a:r>
            <a:r>
              <a:rPr kumimoji="1" lang="en-US" altLang="ja-JP" sz="1800" b="1" i="0" u="none" strike="noStrike" kern="1200" dirty="0">
                <a:solidFill>
                  <a:srgbClr val="000000"/>
                </a:solidFill>
                <a:effectLst/>
                <a:latin typeface="游ゴシック" panose="020B0400000000000000" pitchFamily="50" charset="-128"/>
              </a:rPr>
              <a:t>(</a:t>
            </a:r>
            <a:r>
              <a:rPr kumimoji="1" lang="ja-JP" altLang="en-US" sz="1800" b="1" i="0" u="none" strike="noStrike" kern="1200" dirty="0">
                <a:solidFill>
                  <a:srgbClr val="000000"/>
                </a:solidFill>
                <a:effectLst/>
                <a:latin typeface="游ゴシック" panose="020B0400000000000000" pitchFamily="50" charset="-128"/>
              </a:rPr>
              <a:t>踏んで倒せない</a:t>
            </a:r>
            <a:r>
              <a:rPr kumimoji="1" lang="en-US" altLang="ja-JP" sz="1800" b="1" i="0" u="none" strike="noStrike" kern="1200" dirty="0">
                <a:solidFill>
                  <a:srgbClr val="000000"/>
                </a:solidFill>
                <a:effectLst/>
                <a:latin typeface="游ゴシック" panose="020B0400000000000000" pitchFamily="50" charset="-128"/>
              </a:rPr>
              <a:t>)</a:t>
            </a: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sz="1800" b="1" i="0" u="none" strike="noStrike" dirty="0">
                <a:effectLst/>
                <a:latin typeface="Arial" panose="020B0604020202020204" pitchFamily="34" charset="0"/>
              </a:rPr>
              <a:t>属性攻撃でしか倒せない</a:t>
            </a:r>
            <a:endParaRPr lang="ja-JP" altLang="ja-JP" sz="1800" b="1" i="0" u="none" strike="noStrike" dirty="0">
              <a:effectLst/>
              <a:latin typeface="Arial" panose="020B0604020202020204" pitchFamily="34" charset="0"/>
            </a:endParaRPr>
          </a:p>
          <a:p>
            <a:endParaRPr kumimoji="1" lang="ja-JP" altLang="en-US" dirty="0"/>
          </a:p>
        </p:txBody>
      </p:sp>
    </p:spTree>
    <p:extLst>
      <p:ext uri="{BB962C8B-B14F-4D97-AF65-F5344CB8AC3E}">
        <p14:creationId xmlns:p14="http://schemas.microsoft.com/office/powerpoint/2010/main" val="12377064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 6">
            <a:extLst>
              <a:ext uri="{FF2B5EF4-FFF2-40B4-BE49-F238E27FC236}">
                <a16:creationId xmlns:a16="http://schemas.microsoft.com/office/drawing/2014/main" id="{6E09C39A-D011-4DC0-877A-8E49B28B4529}"/>
              </a:ext>
            </a:extLst>
          </p:cNvPr>
          <p:cNvGraphicFramePr>
            <a:graphicFrameLocks noGrp="1"/>
          </p:cNvGraphicFramePr>
          <p:nvPr>
            <p:extLst>
              <p:ext uri="{D42A27DB-BD31-4B8C-83A1-F6EECF244321}">
                <p14:modId xmlns:p14="http://schemas.microsoft.com/office/powerpoint/2010/main" val="2211716822"/>
              </p:ext>
            </p:extLst>
          </p:nvPr>
        </p:nvGraphicFramePr>
        <p:xfrm>
          <a:off x="304800" y="381000"/>
          <a:ext cx="10185399" cy="2956560"/>
        </p:xfrm>
        <a:graphic>
          <a:graphicData uri="http://schemas.openxmlformats.org/drawingml/2006/table">
            <a:tbl>
              <a:tblPr firstRow="1" bandRow="1">
                <a:tableStyleId>{5C22544A-7EE6-4342-B048-85BDC9FD1C3A}</a:tableStyleId>
              </a:tblPr>
              <a:tblGrid>
                <a:gridCol w="1406065">
                  <a:extLst>
                    <a:ext uri="{9D8B030D-6E8A-4147-A177-3AD203B41FA5}">
                      <a16:colId xmlns:a16="http://schemas.microsoft.com/office/drawing/2014/main" val="2966044095"/>
                    </a:ext>
                  </a:extLst>
                </a:gridCol>
                <a:gridCol w="4389667">
                  <a:extLst>
                    <a:ext uri="{9D8B030D-6E8A-4147-A177-3AD203B41FA5}">
                      <a16:colId xmlns:a16="http://schemas.microsoft.com/office/drawing/2014/main" val="3060233219"/>
                    </a:ext>
                  </a:extLst>
                </a:gridCol>
                <a:gridCol w="4389667">
                  <a:extLst>
                    <a:ext uri="{9D8B030D-6E8A-4147-A177-3AD203B41FA5}">
                      <a16:colId xmlns:a16="http://schemas.microsoft.com/office/drawing/2014/main" val="1556886084"/>
                    </a:ext>
                  </a:extLst>
                </a:gridCol>
              </a:tblGrid>
              <a:tr h="353906">
                <a:tc>
                  <a:txBody>
                    <a:bodyPr/>
                    <a:lstStyle/>
                    <a:p>
                      <a:r>
                        <a:rPr kumimoji="1" lang="ja-JP" altLang="en-US" dirty="0"/>
                        <a:t>属性</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属性の効果</a:t>
                      </a:r>
                      <a:endParaRPr kumimoji="1" lang="en-US" altLang="ja-JP" sz="1800" b="1" dirty="0"/>
                    </a:p>
                  </a:txBody>
                  <a:tcPr/>
                </a:tc>
                <a:tc>
                  <a:txBody>
                    <a:bodyPr/>
                    <a:lstStyle/>
                    <a:p>
                      <a:r>
                        <a:rPr kumimoji="1" lang="ja-JP" altLang="en-US" dirty="0"/>
                        <a:t>仕様</a:t>
                      </a:r>
                    </a:p>
                  </a:txBody>
                  <a:tcPr/>
                </a:tc>
                <a:extLst>
                  <a:ext uri="{0D108BD9-81ED-4DB2-BD59-A6C34878D82A}">
                    <a16:rowId xmlns:a16="http://schemas.microsoft.com/office/drawing/2014/main" val="4075481877"/>
                  </a:ext>
                </a:extLst>
              </a:tr>
              <a:tr h="370840">
                <a:tc>
                  <a:txBody>
                    <a:bodyPr/>
                    <a:lstStyle/>
                    <a:p>
                      <a:r>
                        <a:rPr kumimoji="1" lang="ja-JP" altLang="en-US" b="1" dirty="0"/>
                        <a:t>火</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燃やす　温める</a:t>
                      </a:r>
                      <a:endParaRPr lang="en-US" altLang="ja-JP" sz="1800" b="1" dirty="0"/>
                    </a:p>
                  </a:txBody>
                  <a:tcPr/>
                </a:tc>
                <a:tc>
                  <a:txBody>
                    <a:bodyPr/>
                    <a:lstStyle/>
                    <a:p>
                      <a:r>
                        <a:rPr kumimoji="1" lang="ja-JP" altLang="en-US" b="1" dirty="0"/>
                        <a:t>プレイヤーの前方に火の玉を撃つ</a:t>
                      </a:r>
                    </a:p>
                  </a:txBody>
                  <a:tcPr/>
                </a:tc>
                <a:extLst>
                  <a:ext uri="{0D108BD9-81ED-4DB2-BD59-A6C34878D82A}">
                    <a16:rowId xmlns:a16="http://schemas.microsoft.com/office/drawing/2014/main" val="2310774278"/>
                  </a:ext>
                </a:extLst>
              </a:tr>
              <a:tr h="370840">
                <a:tc>
                  <a:txBody>
                    <a:bodyPr/>
                    <a:lstStyle/>
                    <a:p>
                      <a:r>
                        <a:rPr kumimoji="1" lang="ja-JP" altLang="en-US" b="1" dirty="0"/>
                        <a:t>水</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指定した方向に水を流す</a:t>
                      </a:r>
                      <a:endParaRPr kumimoji="1" lang="en-US" altLang="ja-JP" sz="1800" b="1" dirty="0"/>
                    </a:p>
                  </a:txBody>
                  <a:tcPr/>
                </a:tc>
                <a:tc>
                  <a:txBody>
                    <a:bodyPr/>
                    <a:lstStyle/>
                    <a:p>
                      <a:endParaRPr kumimoji="1" lang="ja-JP" altLang="en-US"/>
                    </a:p>
                  </a:txBody>
                  <a:tcPr/>
                </a:tc>
                <a:extLst>
                  <a:ext uri="{0D108BD9-81ED-4DB2-BD59-A6C34878D82A}">
                    <a16:rowId xmlns:a16="http://schemas.microsoft.com/office/drawing/2014/main" val="796295102"/>
                  </a:ext>
                </a:extLst>
              </a:tr>
              <a:tr h="370840">
                <a:tc>
                  <a:txBody>
                    <a:bodyPr/>
                    <a:lstStyle/>
                    <a:p>
                      <a:r>
                        <a:rPr kumimoji="1" lang="ja-JP" altLang="en-US" b="1" dirty="0"/>
                        <a:t>雷</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雷を落とす　電流を流す</a:t>
                      </a:r>
                      <a:endParaRPr lang="en-US" altLang="ja-JP" sz="1800" b="1" dirty="0"/>
                    </a:p>
                  </a:txBody>
                  <a:tcPr/>
                </a:tc>
                <a:tc>
                  <a:txBody>
                    <a:bodyPr/>
                    <a:lstStyle/>
                    <a:p>
                      <a:r>
                        <a:rPr kumimoji="1" lang="ja-JP" altLang="en-US" b="1" dirty="0"/>
                        <a:t>プレイヤーから一定範囲内に自由に落雷</a:t>
                      </a:r>
                    </a:p>
                  </a:txBody>
                  <a:tcPr/>
                </a:tc>
                <a:extLst>
                  <a:ext uri="{0D108BD9-81ED-4DB2-BD59-A6C34878D82A}">
                    <a16:rowId xmlns:a16="http://schemas.microsoft.com/office/drawing/2014/main" val="3046145997"/>
                  </a:ext>
                </a:extLst>
              </a:tr>
              <a:tr h="370840">
                <a:tc>
                  <a:txBody>
                    <a:bodyPr/>
                    <a:lstStyle/>
                    <a:p>
                      <a:r>
                        <a:rPr kumimoji="1" lang="ja-JP" altLang="en-US" b="1" dirty="0"/>
                        <a:t>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指定した方向に風を起こす</a:t>
                      </a:r>
                      <a:endParaRPr kumimoji="1" lang="en-US" altLang="ja-JP" sz="1800" b="1" dirty="0"/>
                    </a:p>
                  </a:txBody>
                  <a:tcPr/>
                </a:tc>
                <a:tc>
                  <a:txBody>
                    <a:bodyPr/>
                    <a:lstStyle/>
                    <a:p>
                      <a:endParaRPr kumimoji="1" lang="ja-JP" altLang="en-US"/>
                    </a:p>
                  </a:txBody>
                  <a:tcPr/>
                </a:tc>
                <a:extLst>
                  <a:ext uri="{0D108BD9-81ED-4DB2-BD59-A6C34878D82A}">
                    <a16:rowId xmlns:a16="http://schemas.microsoft.com/office/drawing/2014/main" val="1205749493"/>
                  </a:ext>
                </a:extLst>
              </a:tr>
              <a:tr h="359834">
                <a:tc>
                  <a:txBody>
                    <a:bodyPr/>
                    <a:lstStyle/>
                    <a:p>
                      <a:r>
                        <a:rPr kumimoji="1" lang="ja-JP" altLang="en-US" b="1" dirty="0"/>
                        <a:t>土</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土を出す</a:t>
                      </a:r>
                      <a:endParaRPr lang="en-US" altLang="ja-JP" sz="1800" b="1" dirty="0"/>
                    </a:p>
                  </a:txBody>
                  <a:tcPr/>
                </a:tc>
                <a:tc>
                  <a:txBody>
                    <a:bodyPr/>
                    <a:lstStyle/>
                    <a:p>
                      <a:endParaRPr kumimoji="1" lang="ja-JP" altLang="en-US" dirty="0"/>
                    </a:p>
                  </a:txBody>
                  <a:tcPr/>
                </a:tc>
                <a:extLst>
                  <a:ext uri="{0D108BD9-81ED-4DB2-BD59-A6C34878D82A}">
                    <a16:rowId xmlns:a16="http://schemas.microsoft.com/office/drawing/2014/main" val="2677047475"/>
                  </a:ext>
                </a:extLst>
              </a:tr>
              <a:tr h="370840">
                <a:tc>
                  <a:txBody>
                    <a:bodyPr/>
                    <a:lstStyle/>
                    <a:p>
                      <a:r>
                        <a:rPr kumimoji="1" lang="ja-JP" altLang="en-US" b="1" dirty="0"/>
                        <a:t>氷</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凍らせる　冷やす</a:t>
                      </a:r>
                      <a:endParaRPr kumimoji="1" lang="en-US" altLang="ja-JP" sz="1800" b="1" dirty="0"/>
                    </a:p>
                  </a:txBody>
                  <a:tcPr/>
                </a:tc>
                <a:tc>
                  <a:txBody>
                    <a:bodyPr/>
                    <a:lstStyle/>
                    <a:p>
                      <a:r>
                        <a:rPr kumimoji="1" lang="ja-JP" altLang="en-US" b="1" dirty="0"/>
                        <a:t>プレイヤーを中心に範囲攻撃</a:t>
                      </a:r>
                    </a:p>
                  </a:txBody>
                  <a:tcPr/>
                </a:tc>
                <a:extLst>
                  <a:ext uri="{0D108BD9-81ED-4DB2-BD59-A6C34878D82A}">
                    <a16:rowId xmlns:a16="http://schemas.microsoft.com/office/drawing/2014/main" val="3994976511"/>
                  </a:ext>
                </a:extLst>
              </a:tr>
              <a:tr h="370840">
                <a:tc>
                  <a:txBody>
                    <a:bodyPr/>
                    <a:lstStyle/>
                    <a:p>
                      <a:r>
                        <a:rPr kumimoji="1" lang="ja-JP" altLang="en-US" b="1" dirty="0"/>
                        <a:t>金属</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金属を生成</a:t>
                      </a:r>
                      <a:endParaRPr lang="en-US" altLang="ja-JP" sz="1800" b="1" dirty="0"/>
                    </a:p>
                  </a:txBody>
                  <a:tcPr/>
                </a:tc>
                <a:tc>
                  <a:txBody>
                    <a:bodyPr/>
                    <a:lstStyle/>
                    <a:p>
                      <a:r>
                        <a:rPr kumimoji="1" lang="ja-JP" altLang="en-US" b="1" dirty="0"/>
                        <a:t>武器を生成して攻撃</a:t>
                      </a:r>
                      <a:r>
                        <a:rPr kumimoji="1" lang="en-US" altLang="ja-JP" b="1" dirty="0"/>
                        <a:t>(</a:t>
                      </a:r>
                      <a:r>
                        <a:rPr kumimoji="1" lang="ja-JP" altLang="en-US" b="1" dirty="0"/>
                        <a:t>リーチが伸びる</a:t>
                      </a:r>
                      <a:r>
                        <a:rPr kumimoji="1" lang="en-US" altLang="ja-JP" b="1" dirty="0"/>
                        <a:t>)</a:t>
                      </a:r>
                      <a:endParaRPr kumimoji="1" lang="ja-JP" altLang="en-US" b="1" dirty="0"/>
                    </a:p>
                  </a:txBody>
                  <a:tcPr/>
                </a:tc>
                <a:extLst>
                  <a:ext uri="{0D108BD9-81ED-4DB2-BD59-A6C34878D82A}">
                    <a16:rowId xmlns:a16="http://schemas.microsoft.com/office/drawing/2014/main" val="1480996127"/>
                  </a:ext>
                </a:extLst>
              </a:tr>
            </a:tbl>
          </a:graphicData>
        </a:graphic>
      </p:graphicFrame>
    </p:spTree>
    <p:extLst>
      <p:ext uri="{BB962C8B-B14F-4D97-AF65-F5344CB8AC3E}">
        <p14:creationId xmlns:p14="http://schemas.microsoft.com/office/powerpoint/2010/main" val="677173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 2">
            <a:extLst>
              <a:ext uri="{FF2B5EF4-FFF2-40B4-BE49-F238E27FC236}">
                <a16:creationId xmlns:a16="http://schemas.microsoft.com/office/drawing/2014/main" id="{B9CDE8D6-11CB-43A1-8517-E9E3CAE571DD}"/>
              </a:ext>
            </a:extLst>
          </p:cNvPr>
          <p:cNvGraphicFramePr>
            <a:graphicFrameLocks noGrp="1"/>
          </p:cNvGraphicFramePr>
          <p:nvPr>
            <p:extLst>
              <p:ext uri="{D42A27DB-BD31-4B8C-83A1-F6EECF244321}">
                <p14:modId xmlns:p14="http://schemas.microsoft.com/office/powerpoint/2010/main" val="1386711181"/>
              </p:ext>
            </p:extLst>
          </p:nvPr>
        </p:nvGraphicFramePr>
        <p:xfrm>
          <a:off x="177800" y="186266"/>
          <a:ext cx="80899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054730234"/>
                    </a:ext>
                  </a:extLst>
                </a:gridCol>
                <a:gridCol w="4025900">
                  <a:extLst>
                    <a:ext uri="{9D8B030D-6E8A-4147-A177-3AD203B41FA5}">
                      <a16:colId xmlns:a16="http://schemas.microsoft.com/office/drawing/2014/main" val="923094515"/>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属性の掛け合わせ</a:t>
                      </a:r>
                      <a:r>
                        <a:rPr kumimoji="1" lang="en-US" altLang="ja-JP" sz="1800" b="1" dirty="0"/>
                        <a:t>(</a:t>
                      </a:r>
                      <a:r>
                        <a:rPr kumimoji="1" lang="ja-JP" altLang="en-US" sz="1800" b="1" dirty="0"/>
                        <a:t>２属性</a:t>
                      </a:r>
                      <a:r>
                        <a:rPr kumimoji="1" lang="en-US" altLang="ja-JP" sz="1800" b="1" dirty="0"/>
                        <a:t>)</a:t>
                      </a:r>
                    </a:p>
                  </a:txBody>
                  <a:tcPr/>
                </a:tc>
                <a:tc>
                  <a:txBody>
                    <a:bodyPr/>
                    <a:lstStyle/>
                    <a:p>
                      <a:endParaRPr kumimoji="1" lang="ja-JP" altLang="en-US"/>
                    </a:p>
                  </a:txBody>
                  <a:tcPr/>
                </a:tc>
                <a:extLst>
                  <a:ext uri="{0D108BD9-81ED-4DB2-BD59-A6C34878D82A}">
                    <a16:rowId xmlns:a16="http://schemas.microsoft.com/office/drawing/2014/main" val="885958353"/>
                  </a:ext>
                </a:extLst>
              </a:tr>
              <a:tr h="370840">
                <a:tc>
                  <a:txBody>
                    <a:bodyPr/>
                    <a:lstStyle/>
                    <a:p>
                      <a:r>
                        <a:rPr lang="ja-JP" altLang="en-US" sz="1800" b="1" dirty="0"/>
                        <a:t>火</a:t>
                      </a:r>
                      <a:r>
                        <a:rPr lang="en-US" altLang="ja-JP" sz="1800" b="1" dirty="0"/>
                        <a:t>×</a:t>
                      </a:r>
                      <a:r>
                        <a:rPr lang="ja-JP" altLang="en-US" sz="1800" b="1" dirty="0"/>
                        <a:t>風</a:t>
                      </a:r>
                      <a:endParaRPr kumimoji="1" lang="ja-JP" altLang="en-US" dirty="0"/>
                    </a:p>
                  </a:txBody>
                  <a:tcPr/>
                </a:tc>
                <a:tc>
                  <a:txBody>
                    <a:bodyPr/>
                    <a:lstStyle/>
                    <a:p>
                      <a:r>
                        <a:rPr lang="ja-JP" altLang="en-US" sz="1800" b="1" dirty="0"/>
                        <a:t>火を燃え広がらせる</a:t>
                      </a:r>
                      <a:endParaRPr kumimoji="1" lang="ja-JP" altLang="en-US" dirty="0"/>
                    </a:p>
                  </a:txBody>
                  <a:tcPr/>
                </a:tc>
                <a:extLst>
                  <a:ext uri="{0D108BD9-81ED-4DB2-BD59-A6C34878D82A}">
                    <a16:rowId xmlns:a16="http://schemas.microsoft.com/office/drawing/2014/main" val="809933234"/>
                  </a:ext>
                </a:extLst>
              </a:tr>
              <a:tr h="370840">
                <a:tc>
                  <a:txBody>
                    <a:bodyPr/>
                    <a:lstStyle/>
                    <a:p>
                      <a:r>
                        <a:rPr lang="ja-JP" altLang="en-US" sz="1800" b="1" dirty="0"/>
                        <a:t>火</a:t>
                      </a:r>
                      <a:r>
                        <a:rPr lang="en-US" altLang="ja-JP" sz="1800" b="1" dirty="0"/>
                        <a:t>×</a:t>
                      </a:r>
                      <a:r>
                        <a:rPr lang="ja-JP" altLang="en-US" sz="1800" b="1" dirty="0"/>
                        <a:t>氷</a:t>
                      </a:r>
                      <a:endParaRPr kumimoji="1" lang="ja-JP" altLang="en-US" dirty="0"/>
                    </a:p>
                  </a:txBody>
                  <a:tcPr/>
                </a:tc>
                <a:tc>
                  <a:txBody>
                    <a:bodyPr/>
                    <a:lstStyle/>
                    <a:p>
                      <a:r>
                        <a:rPr lang="ja-JP" altLang="en-US" sz="1800" b="1" dirty="0"/>
                        <a:t>氷を溶かして水を出す</a:t>
                      </a:r>
                      <a:endParaRPr kumimoji="1" lang="ja-JP" altLang="en-US" dirty="0"/>
                    </a:p>
                  </a:txBody>
                  <a:tcPr/>
                </a:tc>
                <a:extLst>
                  <a:ext uri="{0D108BD9-81ED-4DB2-BD59-A6C34878D82A}">
                    <a16:rowId xmlns:a16="http://schemas.microsoft.com/office/drawing/2014/main" val="3206244502"/>
                  </a:ext>
                </a:extLst>
              </a:tr>
              <a:tr h="370840">
                <a:tc>
                  <a:txBody>
                    <a:bodyPr/>
                    <a:lstStyle/>
                    <a:p>
                      <a:r>
                        <a:rPr lang="ja-JP" altLang="en-US" sz="1800" b="1" dirty="0"/>
                        <a:t>水</a:t>
                      </a:r>
                      <a:r>
                        <a:rPr lang="en-US" altLang="ja-JP" sz="1800" b="1" dirty="0"/>
                        <a:t>×</a:t>
                      </a:r>
                      <a:r>
                        <a:rPr lang="ja-JP" altLang="en-US" sz="1800" b="1" dirty="0"/>
                        <a:t>雷</a:t>
                      </a:r>
                      <a:endParaRPr kumimoji="1" lang="ja-JP" altLang="en-US" dirty="0"/>
                    </a:p>
                  </a:txBody>
                  <a:tcPr/>
                </a:tc>
                <a:tc>
                  <a:txBody>
                    <a:bodyPr/>
                    <a:lstStyle/>
                    <a:p>
                      <a:r>
                        <a:rPr lang="ja-JP" altLang="en-US" sz="1800" b="1" dirty="0"/>
                        <a:t>帯電</a:t>
                      </a:r>
                      <a:endParaRPr kumimoji="1" lang="ja-JP" altLang="en-US" dirty="0"/>
                    </a:p>
                  </a:txBody>
                  <a:tcPr/>
                </a:tc>
                <a:extLst>
                  <a:ext uri="{0D108BD9-81ED-4DB2-BD59-A6C34878D82A}">
                    <a16:rowId xmlns:a16="http://schemas.microsoft.com/office/drawing/2014/main" val="2493297055"/>
                  </a:ext>
                </a:extLst>
              </a:tr>
              <a:tr h="370840">
                <a:tc>
                  <a:txBody>
                    <a:bodyPr/>
                    <a:lstStyle/>
                    <a:p>
                      <a:r>
                        <a:rPr lang="ja-JP" altLang="en-US" sz="1800" b="1" dirty="0"/>
                        <a:t>水</a:t>
                      </a:r>
                      <a:r>
                        <a:rPr lang="en-US" altLang="ja-JP" sz="1800" b="1" dirty="0"/>
                        <a:t>×</a:t>
                      </a:r>
                      <a:r>
                        <a:rPr lang="ja-JP" altLang="en-US" sz="1800" b="1" dirty="0"/>
                        <a:t>氷</a:t>
                      </a:r>
                      <a:endParaRPr kumimoji="1" lang="ja-JP" altLang="en-US" dirty="0"/>
                    </a:p>
                  </a:txBody>
                  <a:tcPr/>
                </a:tc>
                <a:tc>
                  <a:txBody>
                    <a:bodyPr/>
                    <a:lstStyle/>
                    <a:p>
                      <a:r>
                        <a:rPr lang="ja-JP" altLang="en-US" sz="1800" b="1" dirty="0"/>
                        <a:t>水を凍らせる</a:t>
                      </a:r>
                      <a:endParaRPr kumimoji="1" lang="ja-JP" altLang="en-US" dirty="0"/>
                    </a:p>
                  </a:txBody>
                  <a:tcPr/>
                </a:tc>
                <a:extLst>
                  <a:ext uri="{0D108BD9-81ED-4DB2-BD59-A6C34878D82A}">
                    <a16:rowId xmlns:a16="http://schemas.microsoft.com/office/drawing/2014/main" val="925131871"/>
                  </a:ext>
                </a:extLst>
              </a:tr>
              <a:tr h="370840">
                <a:tc>
                  <a:txBody>
                    <a:bodyPr/>
                    <a:lstStyle/>
                    <a:p>
                      <a:r>
                        <a:rPr lang="ja-JP" altLang="en-US" sz="1800" b="1" dirty="0"/>
                        <a:t>雷</a:t>
                      </a:r>
                      <a:r>
                        <a:rPr lang="en-US" altLang="ja-JP" sz="1800" b="1" dirty="0"/>
                        <a:t>×</a:t>
                      </a:r>
                      <a:r>
                        <a:rPr lang="ja-JP" altLang="en-US" sz="1800" b="1" dirty="0"/>
                        <a:t>金属　</a:t>
                      </a:r>
                      <a:endParaRPr kumimoji="1" lang="ja-JP" altLang="en-US" dirty="0"/>
                    </a:p>
                  </a:txBody>
                  <a:tcPr/>
                </a:tc>
                <a:tc>
                  <a:txBody>
                    <a:bodyPr/>
                    <a:lstStyle/>
                    <a:p>
                      <a:r>
                        <a:rPr lang="ja-JP" altLang="en-US" sz="1800" b="1" dirty="0"/>
                        <a:t>指定した場所に雷を落とす</a:t>
                      </a:r>
                      <a:endParaRPr kumimoji="1" lang="ja-JP" altLang="en-US" dirty="0"/>
                    </a:p>
                  </a:txBody>
                  <a:tcPr/>
                </a:tc>
                <a:extLst>
                  <a:ext uri="{0D108BD9-81ED-4DB2-BD59-A6C34878D82A}">
                    <a16:rowId xmlns:a16="http://schemas.microsoft.com/office/drawing/2014/main" val="1925619203"/>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3406983387"/>
                  </a:ext>
                </a:extLst>
              </a:tr>
              <a:tr h="370840">
                <a:tc>
                  <a:txBody>
                    <a:bodyPr/>
                    <a:lstStyle/>
                    <a:p>
                      <a:endParaRPr kumimoji="1" lang="ja-JP" altLang="en-US"/>
                    </a:p>
                  </a:txBody>
                  <a:tcPr/>
                </a:tc>
                <a:tc>
                  <a:txBody>
                    <a:bodyPr/>
                    <a:lstStyle/>
                    <a:p>
                      <a:endParaRPr kumimoji="1" lang="ja-JP" altLang="en-US" dirty="0"/>
                    </a:p>
                  </a:txBody>
                  <a:tcPr/>
                </a:tc>
                <a:extLst>
                  <a:ext uri="{0D108BD9-81ED-4DB2-BD59-A6C34878D82A}">
                    <a16:rowId xmlns:a16="http://schemas.microsoft.com/office/drawing/2014/main" val="1233935574"/>
                  </a:ext>
                </a:extLst>
              </a:tr>
            </a:tbl>
          </a:graphicData>
        </a:graphic>
      </p:graphicFrame>
      <p:graphicFrame>
        <p:nvGraphicFramePr>
          <p:cNvPr id="3" name="表 3">
            <a:extLst>
              <a:ext uri="{FF2B5EF4-FFF2-40B4-BE49-F238E27FC236}">
                <a16:creationId xmlns:a16="http://schemas.microsoft.com/office/drawing/2014/main" id="{3D0E594F-BE7B-4047-9FDB-25253F02A709}"/>
              </a:ext>
            </a:extLst>
          </p:cNvPr>
          <p:cNvGraphicFramePr>
            <a:graphicFrameLocks noGrp="1"/>
          </p:cNvGraphicFramePr>
          <p:nvPr>
            <p:extLst>
              <p:ext uri="{D42A27DB-BD31-4B8C-83A1-F6EECF244321}">
                <p14:modId xmlns:p14="http://schemas.microsoft.com/office/powerpoint/2010/main" val="4187146972"/>
              </p:ext>
            </p:extLst>
          </p:nvPr>
        </p:nvGraphicFramePr>
        <p:xfrm>
          <a:off x="177800" y="3156372"/>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597532429"/>
                    </a:ext>
                  </a:extLst>
                </a:gridCol>
                <a:gridCol w="4064000">
                  <a:extLst>
                    <a:ext uri="{9D8B030D-6E8A-4147-A177-3AD203B41FA5}">
                      <a16:colId xmlns:a16="http://schemas.microsoft.com/office/drawing/2014/main" val="1698498963"/>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属性の掛け合わせ</a:t>
                      </a:r>
                      <a:r>
                        <a:rPr kumimoji="1" lang="en-US" altLang="ja-JP" sz="1800" b="1" dirty="0"/>
                        <a:t>(</a:t>
                      </a:r>
                      <a:r>
                        <a:rPr kumimoji="1" lang="ja-JP" altLang="en-US" sz="1800" b="1" dirty="0"/>
                        <a:t>３属性</a:t>
                      </a:r>
                      <a:r>
                        <a:rPr kumimoji="1" lang="en-US" altLang="ja-JP" sz="1800" b="1" dirty="0"/>
                        <a:t>)</a:t>
                      </a:r>
                    </a:p>
                  </a:txBody>
                  <a:tcPr/>
                </a:tc>
                <a:tc>
                  <a:txBody>
                    <a:bodyPr/>
                    <a:lstStyle/>
                    <a:p>
                      <a:endParaRPr kumimoji="1" lang="ja-JP" altLang="en-US"/>
                    </a:p>
                  </a:txBody>
                  <a:tcPr/>
                </a:tc>
                <a:extLst>
                  <a:ext uri="{0D108BD9-81ED-4DB2-BD59-A6C34878D82A}">
                    <a16:rowId xmlns:a16="http://schemas.microsoft.com/office/drawing/2014/main" val="2443536272"/>
                  </a:ext>
                </a:extLst>
              </a:tr>
              <a:tr h="370840">
                <a:tc>
                  <a:txBody>
                    <a:bodyPr/>
                    <a:lstStyle/>
                    <a:p>
                      <a:r>
                        <a:rPr lang="ja-JP" altLang="en-US" sz="1800" b="1" dirty="0"/>
                        <a:t>火</a:t>
                      </a:r>
                      <a:r>
                        <a:rPr lang="en-US" altLang="ja-JP" sz="1800" b="1" dirty="0"/>
                        <a:t>×</a:t>
                      </a:r>
                      <a:r>
                        <a:rPr lang="ja-JP" altLang="en-US" sz="1800" b="1" dirty="0"/>
                        <a:t>土</a:t>
                      </a:r>
                      <a:r>
                        <a:rPr lang="en-US" altLang="ja-JP" sz="1800" b="1" dirty="0"/>
                        <a:t>×</a:t>
                      </a:r>
                      <a:r>
                        <a:rPr lang="ja-JP" altLang="en-US" sz="1800" b="1" dirty="0"/>
                        <a:t>金属</a:t>
                      </a:r>
                      <a:endParaRPr kumimoji="1" lang="ja-JP" altLang="en-US" dirty="0"/>
                    </a:p>
                  </a:txBody>
                  <a:tcPr/>
                </a:tc>
                <a:tc>
                  <a:txBody>
                    <a:bodyPr/>
                    <a:lstStyle/>
                    <a:p>
                      <a:r>
                        <a:rPr lang="ja-JP" altLang="en-US" sz="1800" b="1" dirty="0"/>
                        <a:t>爆弾を作る</a:t>
                      </a:r>
                      <a:endParaRPr kumimoji="1" lang="ja-JP" altLang="en-US" dirty="0"/>
                    </a:p>
                  </a:txBody>
                  <a:tcPr/>
                </a:tc>
                <a:extLst>
                  <a:ext uri="{0D108BD9-81ED-4DB2-BD59-A6C34878D82A}">
                    <a16:rowId xmlns:a16="http://schemas.microsoft.com/office/drawing/2014/main" val="460648531"/>
                  </a:ext>
                </a:extLst>
              </a:tr>
              <a:tr h="370840">
                <a:tc>
                  <a:txBody>
                    <a:bodyPr/>
                    <a:lstStyle/>
                    <a:p>
                      <a:r>
                        <a:rPr lang="ja-JP" altLang="en-US" sz="1800" b="1" dirty="0"/>
                        <a:t>水</a:t>
                      </a:r>
                      <a:r>
                        <a:rPr lang="en-US" altLang="ja-JP" sz="1800" b="1" dirty="0"/>
                        <a:t>×</a:t>
                      </a:r>
                      <a:r>
                        <a:rPr lang="ja-JP" altLang="en-US" sz="1800" b="1" dirty="0"/>
                        <a:t>風</a:t>
                      </a:r>
                      <a:r>
                        <a:rPr lang="en-US" altLang="ja-JP" sz="1800" b="1" dirty="0"/>
                        <a:t>×</a:t>
                      </a:r>
                      <a:r>
                        <a:rPr lang="ja-JP" altLang="en-US" sz="1800" b="1" dirty="0"/>
                        <a:t>土</a:t>
                      </a:r>
                      <a:endParaRPr kumimoji="1" lang="ja-JP" altLang="en-US" dirty="0"/>
                    </a:p>
                  </a:txBody>
                  <a:tcPr/>
                </a:tc>
                <a:tc>
                  <a:txBody>
                    <a:bodyPr/>
                    <a:lstStyle/>
                    <a:p>
                      <a:r>
                        <a:rPr lang="ja-JP" altLang="en-US" sz="1800" b="1" dirty="0"/>
                        <a:t>木を生やす</a:t>
                      </a:r>
                      <a:endParaRPr kumimoji="1" lang="ja-JP" altLang="en-US" dirty="0"/>
                    </a:p>
                  </a:txBody>
                  <a:tcPr/>
                </a:tc>
                <a:extLst>
                  <a:ext uri="{0D108BD9-81ED-4DB2-BD59-A6C34878D82A}">
                    <a16:rowId xmlns:a16="http://schemas.microsoft.com/office/drawing/2014/main" val="2666970424"/>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3347810690"/>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338706653"/>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2609774836"/>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1625978905"/>
                  </a:ext>
                </a:extLst>
              </a:tr>
              <a:tr h="370840">
                <a:tc>
                  <a:txBody>
                    <a:bodyPr/>
                    <a:lstStyle/>
                    <a:p>
                      <a:endParaRPr kumimoji="1" lang="ja-JP" altLang="en-US"/>
                    </a:p>
                  </a:txBody>
                  <a:tcPr/>
                </a:tc>
                <a:tc>
                  <a:txBody>
                    <a:bodyPr/>
                    <a:lstStyle/>
                    <a:p>
                      <a:endParaRPr kumimoji="1" lang="ja-JP" altLang="en-US" dirty="0"/>
                    </a:p>
                  </a:txBody>
                  <a:tcPr/>
                </a:tc>
                <a:extLst>
                  <a:ext uri="{0D108BD9-81ED-4DB2-BD59-A6C34878D82A}">
                    <a16:rowId xmlns:a16="http://schemas.microsoft.com/office/drawing/2014/main" val="2788258725"/>
                  </a:ext>
                </a:extLst>
              </a:tr>
            </a:tbl>
          </a:graphicData>
        </a:graphic>
      </p:graphicFrame>
    </p:spTree>
    <p:extLst>
      <p:ext uri="{BB962C8B-B14F-4D97-AF65-F5344CB8AC3E}">
        <p14:creationId xmlns:p14="http://schemas.microsoft.com/office/powerpoint/2010/main" val="31203603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D425C189-9918-4F01-BBE5-8444CE9D89CD}"/>
              </a:ext>
            </a:extLst>
          </p:cNvPr>
          <p:cNvSpPr txBox="1"/>
          <p:nvPr/>
        </p:nvSpPr>
        <p:spPr>
          <a:xfrm>
            <a:off x="228600" y="174721"/>
            <a:ext cx="9283700" cy="461665"/>
          </a:xfrm>
          <a:prstGeom prst="rect">
            <a:avLst/>
          </a:prstGeom>
          <a:noFill/>
        </p:spPr>
        <p:txBody>
          <a:bodyPr wrap="square" rtlCol="0">
            <a:spAutoFit/>
          </a:bodyPr>
          <a:lstStyle/>
          <a:p>
            <a:r>
              <a:rPr kumimoji="1" lang="ja-JP" altLang="en-US" sz="2400" b="1"/>
              <a:t>タイトル画面</a:t>
            </a:r>
            <a:endParaRPr kumimoji="1" lang="en-US" altLang="ja-JP" sz="2400" b="1" dirty="0"/>
          </a:p>
        </p:txBody>
      </p:sp>
      <p:graphicFrame>
        <p:nvGraphicFramePr>
          <p:cNvPr id="3" name="表 3">
            <a:extLst>
              <a:ext uri="{FF2B5EF4-FFF2-40B4-BE49-F238E27FC236}">
                <a16:creationId xmlns:a16="http://schemas.microsoft.com/office/drawing/2014/main" id="{2CEBF106-1163-4326-AE84-1622E7DBE56A}"/>
              </a:ext>
            </a:extLst>
          </p:cNvPr>
          <p:cNvGraphicFramePr>
            <a:graphicFrameLocks noGrp="1"/>
          </p:cNvGraphicFramePr>
          <p:nvPr>
            <p:extLst>
              <p:ext uri="{D42A27DB-BD31-4B8C-83A1-F6EECF244321}">
                <p14:modId xmlns:p14="http://schemas.microsoft.com/office/powerpoint/2010/main" val="3205598494"/>
              </p:ext>
            </p:extLst>
          </p:nvPr>
        </p:nvGraphicFramePr>
        <p:xfrm>
          <a:off x="330200" y="4161366"/>
          <a:ext cx="6858000" cy="2291080"/>
        </p:xfrm>
        <a:graphic>
          <a:graphicData uri="http://schemas.openxmlformats.org/drawingml/2006/table">
            <a:tbl>
              <a:tblPr firstRow="1" bandRow="1">
                <a:tableStyleId>{5C22544A-7EE6-4342-B048-85BDC9FD1C3A}</a:tableStyleId>
              </a:tblPr>
              <a:tblGrid>
                <a:gridCol w="1555750">
                  <a:extLst>
                    <a:ext uri="{9D8B030D-6E8A-4147-A177-3AD203B41FA5}">
                      <a16:colId xmlns:a16="http://schemas.microsoft.com/office/drawing/2014/main" val="2935694365"/>
                    </a:ext>
                  </a:extLst>
                </a:gridCol>
                <a:gridCol w="5302250">
                  <a:extLst>
                    <a:ext uri="{9D8B030D-6E8A-4147-A177-3AD203B41FA5}">
                      <a16:colId xmlns:a16="http://schemas.microsoft.com/office/drawing/2014/main" val="91573407"/>
                    </a:ext>
                  </a:extLst>
                </a:gridCol>
              </a:tblGrid>
              <a:tr h="334434">
                <a:tc>
                  <a:txBody>
                    <a:bodyPr/>
                    <a:lstStyle/>
                    <a:p>
                      <a:r>
                        <a:rPr kumimoji="1" lang="ja-JP" altLang="en-US" dirty="0"/>
                        <a:t>詳細</a:t>
                      </a:r>
                    </a:p>
                  </a:txBody>
                  <a:tcPr/>
                </a:tc>
                <a:tc>
                  <a:txBody>
                    <a:bodyPr/>
                    <a:lstStyle/>
                    <a:p>
                      <a:endParaRPr kumimoji="1" lang="ja-JP" altLang="en-US" dirty="0"/>
                    </a:p>
                  </a:txBody>
                  <a:tcPr/>
                </a:tc>
                <a:extLst>
                  <a:ext uri="{0D108BD9-81ED-4DB2-BD59-A6C34878D82A}">
                    <a16:rowId xmlns:a16="http://schemas.microsoft.com/office/drawing/2014/main" val="2911909077"/>
                  </a:ext>
                </a:extLst>
              </a:tr>
              <a:tr h="370840">
                <a:tc>
                  <a:txBody>
                    <a:bodyPr/>
                    <a:lstStyle/>
                    <a:p>
                      <a:r>
                        <a:rPr kumimoji="1" lang="ja-JP" altLang="en-US" dirty="0"/>
                        <a:t>■タイトル</a:t>
                      </a:r>
                    </a:p>
                  </a:txBody>
                  <a:tcPr/>
                </a:tc>
                <a:tc>
                  <a:txBody>
                    <a:bodyPr/>
                    <a:lstStyle/>
                    <a:p>
                      <a:r>
                        <a:rPr kumimoji="1" lang="ja-JP" altLang="en-US" dirty="0"/>
                        <a:t>ランダムで７つの属性っぽいフォントになる</a:t>
                      </a:r>
                    </a:p>
                  </a:txBody>
                  <a:tcPr/>
                </a:tc>
                <a:extLst>
                  <a:ext uri="{0D108BD9-81ED-4DB2-BD59-A6C34878D82A}">
                    <a16:rowId xmlns:a16="http://schemas.microsoft.com/office/drawing/2014/main" val="486546138"/>
                  </a:ext>
                </a:extLst>
              </a:tr>
              <a:tr h="370840">
                <a:tc>
                  <a:txBody>
                    <a:bodyPr/>
                    <a:lstStyle/>
                    <a:p>
                      <a:r>
                        <a:rPr kumimoji="1" lang="ja-JP" altLang="en-US" dirty="0"/>
                        <a:t>■背景</a:t>
                      </a:r>
                    </a:p>
                  </a:txBody>
                  <a:tcPr/>
                </a:tc>
                <a:tc>
                  <a:txBody>
                    <a:bodyPr/>
                    <a:lstStyle/>
                    <a:p>
                      <a:r>
                        <a:rPr kumimoji="1" lang="ja-JP" altLang="en-US" dirty="0"/>
                        <a:t>ランダムで決まった属性のフォントに合った</a:t>
                      </a:r>
                      <a:endParaRPr kumimoji="1" lang="en-US" altLang="ja-JP" dirty="0"/>
                    </a:p>
                    <a:p>
                      <a:r>
                        <a:rPr kumimoji="1" lang="ja-JP" altLang="en-US" dirty="0"/>
                        <a:t>背景</a:t>
                      </a:r>
                    </a:p>
                  </a:txBody>
                  <a:tcPr/>
                </a:tc>
                <a:extLst>
                  <a:ext uri="{0D108BD9-81ED-4DB2-BD59-A6C34878D82A}">
                    <a16:rowId xmlns:a16="http://schemas.microsoft.com/office/drawing/2014/main" val="1878940561"/>
                  </a:ext>
                </a:extLst>
              </a:tr>
              <a:tr h="370840">
                <a:tc>
                  <a:txBody>
                    <a:bodyPr/>
                    <a:lstStyle/>
                    <a:p>
                      <a:r>
                        <a:rPr kumimoji="1" lang="ja-JP" altLang="en-US" dirty="0"/>
                        <a:t>■遷移</a:t>
                      </a:r>
                    </a:p>
                  </a:txBody>
                  <a:tcPr/>
                </a:tc>
                <a:tc>
                  <a:txBody>
                    <a:bodyPr/>
                    <a:lstStyle/>
                    <a:p>
                      <a:r>
                        <a:rPr kumimoji="1" lang="ja-JP" altLang="en-US" dirty="0"/>
                        <a:t>はじめから　チュートリアル開始</a:t>
                      </a:r>
                      <a:endParaRPr kumimoji="1" lang="en-US" altLang="ja-JP" dirty="0"/>
                    </a:p>
                    <a:p>
                      <a:r>
                        <a:rPr kumimoji="1" lang="ja-JP" altLang="en-US" dirty="0"/>
                        <a:t>つづきから　ロード画面へ</a:t>
                      </a:r>
                      <a:endParaRPr kumimoji="1" lang="en-US" altLang="ja-JP" dirty="0"/>
                    </a:p>
                    <a:p>
                      <a:r>
                        <a:rPr kumimoji="1" lang="ja-JP" altLang="en-US" dirty="0"/>
                        <a:t>オプション　オプション画面へ</a:t>
                      </a:r>
                    </a:p>
                  </a:txBody>
                  <a:tcPr/>
                </a:tc>
                <a:extLst>
                  <a:ext uri="{0D108BD9-81ED-4DB2-BD59-A6C34878D82A}">
                    <a16:rowId xmlns:a16="http://schemas.microsoft.com/office/drawing/2014/main" val="654326850"/>
                  </a:ext>
                </a:extLst>
              </a:tr>
            </a:tbl>
          </a:graphicData>
        </a:graphic>
      </p:graphicFrame>
      <p:sp>
        <p:nvSpPr>
          <p:cNvPr id="5" name="テキスト ボックス 4">
            <a:extLst>
              <a:ext uri="{FF2B5EF4-FFF2-40B4-BE49-F238E27FC236}">
                <a16:creationId xmlns:a16="http://schemas.microsoft.com/office/drawing/2014/main" id="{109AC8FD-4CFE-4322-A842-C45D07F43B9E}"/>
              </a:ext>
            </a:extLst>
          </p:cNvPr>
          <p:cNvSpPr txBox="1"/>
          <p:nvPr/>
        </p:nvSpPr>
        <p:spPr>
          <a:xfrm>
            <a:off x="2762250" y="2298963"/>
            <a:ext cx="1993900" cy="923330"/>
          </a:xfrm>
          <a:prstGeom prst="rect">
            <a:avLst/>
          </a:prstGeom>
          <a:noFill/>
        </p:spPr>
        <p:txBody>
          <a:bodyPr wrap="square">
            <a:spAutoFit/>
          </a:bodyPr>
          <a:lstStyle/>
          <a:p>
            <a:r>
              <a:rPr lang="ja-JP" altLang="en-US" dirty="0"/>
              <a:t>➤</a:t>
            </a:r>
            <a:r>
              <a:rPr kumimoji="1" lang="ja-JP" altLang="en-US" dirty="0"/>
              <a:t>はじめから</a:t>
            </a:r>
            <a:endParaRPr kumimoji="1" lang="en-US" altLang="ja-JP" dirty="0"/>
          </a:p>
          <a:p>
            <a:r>
              <a:rPr lang="ja-JP" altLang="en-US" dirty="0"/>
              <a:t>　つづきから</a:t>
            </a:r>
            <a:endParaRPr lang="en-US" altLang="ja-JP" dirty="0"/>
          </a:p>
          <a:p>
            <a:r>
              <a:rPr kumimoji="1" lang="ja-JP" altLang="en-US" dirty="0"/>
              <a:t>　オプション</a:t>
            </a:r>
          </a:p>
        </p:txBody>
      </p:sp>
      <p:sp>
        <p:nvSpPr>
          <p:cNvPr id="10" name="テキスト ボックス 9">
            <a:extLst>
              <a:ext uri="{FF2B5EF4-FFF2-40B4-BE49-F238E27FC236}">
                <a16:creationId xmlns:a16="http://schemas.microsoft.com/office/drawing/2014/main" id="{F0F07218-5D64-47CB-A37F-A4B1DA3AFC44}"/>
              </a:ext>
            </a:extLst>
          </p:cNvPr>
          <p:cNvSpPr txBox="1"/>
          <p:nvPr/>
        </p:nvSpPr>
        <p:spPr>
          <a:xfrm>
            <a:off x="228600" y="732261"/>
            <a:ext cx="6591300" cy="938719"/>
          </a:xfrm>
          <a:prstGeom prst="rect">
            <a:avLst/>
          </a:prstGeom>
          <a:noFill/>
        </p:spPr>
        <p:txBody>
          <a:bodyPr wrap="square">
            <a:spAutoFit/>
          </a:bodyPr>
          <a:lstStyle/>
          <a:p>
            <a:r>
              <a:rPr kumimoji="1" lang="en-US" altLang="ja-JP" sz="5400" b="1" dirty="0">
                <a:latin typeface="Magneto" panose="04030805050802020D02" pitchFamily="82" charset="0"/>
              </a:rPr>
              <a:t>Seven Elements</a:t>
            </a:r>
            <a:endParaRPr kumimoji="1" lang="ja-JP" altLang="en-US" sz="5400" b="1" dirty="0">
              <a:latin typeface="Magneto" panose="04030805050802020D02" pitchFamily="82" charset="0"/>
            </a:endParaRPr>
          </a:p>
        </p:txBody>
      </p:sp>
      <p:sp>
        <p:nvSpPr>
          <p:cNvPr id="12" name="テキスト ボックス 11">
            <a:extLst>
              <a:ext uri="{FF2B5EF4-FFF2-40B4-BE49-F238E27FC236}">
                <a16:creationId xmlns:a16="http://schemas.microsoft.com/office/drawing/2014/main" id="{20078DF2-6A9A-42FD-A264-CDFCB5708D17}"/>
              </a:ext>
            </a:extLst>
          </p:cNvPr>
          <p:cNvSpPr txBox="1"/>
          <p:nvPr/>
        </p:nvSpPr>
        <p:spPr>
          <a:xfrm>
            <a:off x="158750" y="815735"/>
            <a:ext cx="6858000" cy="923330"/>
          </a:xfrm>
          <a:prstGeom prst="rect">
            <a:avLst/>
          </a:prstGeom>
          <a:noFill/>
        </p:spPr>
        <p:txBody>
          <a:bodyPr wrap="square">
            <a:spAutoFit/>
          </a:bodyPr>
          <a:lstStyle/>
          <a:p>
            <a:r>
              <a:rPr kumimoji="1" lang="en-US" altLang="ja-JP" sz="5400" b="1" dirty="0">
                <a:solidFill>
                  <a:schemeClr val="accent4">
                    <a:lumMod val="60000"/>
                    <a:lumOff val="40000"/>
                  </a:schemeClr>
                </a:solidFill>
                <a:latin typeface="Magneto" panose="04030805050802020D02" pitchFamily="82" charset="0"/>
              </a:rPr>
              <a:t>Seven</a:t>
            </a:r>
            <a:r>
              <a:rPr lang="ja-JP" altLang="en-US" sz="5400" b="1" dirty="0">
                <a:solidFill>
                  <a:schemeClr val="accent4">
                    <a:lumMod val="60000"/>
                    <a:lumOff val="40000"/>
                  </a:schemeClr>
                </a:solidFill>
                <a:latin typeface="Magneto" panose="04030805050802020D02" pitchFamily="82" charset="0"/>
              </a:rPr>
              <a:t> </a:t>
            </a:r>
            <a:r>
              <a:rPr kumimoji="1" lang="en-US" altLang="ja-JP" sz="5400" b="1" dirty="0">
                <a:solidFill>
                  <a:schemeClr val="accent4">
                    <a:lumMod val="60000"/>
                    <a:lumOff val="40000"/>
                  </a:schemeClr>
                </a:solidFill>
                <a:latin typeface="Magneto" panose="04030805050802020D02" pitchFamily="82" charset="0"/>
              </a:rPr>
              <a:t>Elements</a:t>
            </a:r>
            <a:endParaRPr kumimoji="1" lang="ja-JP" altLang="en-US" sz="5400" b="1" dirty="0">
              <a:solidFill>
                <a:schemeClr val="accent4">
                  <a:lumMod val="60000"/>
                  <a:lumOff val="40000"/>
                </a:schemeClr>
              </a:solidFill>
              <a:latin typeface="Magneto" panose="04030805050802020D02" pitchFamily="82" charset="0"/>
            </a:endParaRPr>
          </a:p>
        </p:txBody>
      </p:sp>
      <p:sp>
        <p:nvSpPr>
          <p:cNvPr id="13" name="稲妻 12">
            <a:extLst>
              <a:ext uri="{FF2B5EF4-FFF2-40B4-BE49-F238E27FC236}">
                <a16:creationId xmlns:a16="http://schemas.microsoft.com/office/drawing/2014/main" id="{DD1A584C-9DCA-4D5D-A034-DCF1E5DA904D}"/>
              </a:ext>
            </a:extLst>
          </p:cNvPr>
          <p:cNvSpPr/>
          <p:nvPr/>
        </p:nvSpPr>
        <p:spPr>
          <a:xfrm flipH="1">
            <a:off x="6346130" y="948671"/>
            <a:ext cx="1144390" cy="461665"/>
          </a:xfrm>
          <a:prstGeom prst="lightningBol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稲妻 13">
            <a:extLst>
              <a:ext uri="{FF2B5EF4-FFF2-40B4-BE49-F238E27FC236}">
                <a16:creationId xmlns:a16="http://schemas.microsoft.com/office/drawing/2014/main" id="{A8F6C23B-17EF-4009-9ED8-DF49730ED00B}"/>
              </a:ext>
            </a:extLst>
          </p:cNvPr>
          <p:cNvSpPr/>
          <p:nvPr/>
        </p:nvSpPr>
        <p:spPr>
          <a:xfrm flipH="1">
            <a:off x="6094958" y="1016756"/>
            <a:ext cx="1144390" cy="461665"/>
          </a:xfrm>
          <a:prstGeom prst="lightningBolt">
            <a:avLst/>
          </a:prstGeom>
          <a:solidFill>
            <a:schemeClr val="accent4">
              <a:lumMod val="60000"/>
              <a:lumOff val="40000"/>
            </a:schemeClr>
          </a:solid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29932210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正方形/長方形 58">
            <a:extLst>
              <a:ext uri="{FF2B5EF4-FFF2-40B4-BE49-F238E27FC236}">
                <a16:creationId xmlns:a16="http://schemas.microsoft.com/office/drawing/2014/main" id="{5A4DF955-A150-44CB-9FDE-5134DDF14D0C}"/>
              </a:ext>
            </a:extLst>
          </p:cNvPr>
          <p:cNvSpPr/>
          <p:nvPr/>
        </p:nvSpPr>
        <p:spPr>
          <a:xfrm>
            <a:off x="5587244" y="200195"/>
            <a:ext cx="4537339"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BB31AF23-B5D4-46C6-BF5E-C5F8EA9679CB}"/>
              </a:ext>
            </a:extLst>
          </p:cNvPr>
          <p:cNvSpPr/>
          <p:nvPr/>
        </p:nvSpPr>
        <p:spPr>
          <a:xfrm>
            <a:off x="124059" y="5507316"/>
            <a:ext cx="4698038" cy="111837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正方形/長方形 60">
            <a:extLst>
              <a:ext uri="{FF2B5EF4-FFF2-40B4-BE49-F238E27FC236}">
                <a16:creationId xmlns:a16="http://schemas.microsoft.com/office/drawing/2014/main" id="{E344E309-1692-4D02-98BC-B9EC91D1D578}"/>
              </a:ext>
            </a:extLst>
          </p:cNvPr>
          <p:cNvSpPr/>
          <p:nvPr/>
        </p:nvSpPr>
        <p:spPr>
          <a:xfrm>
            <a:off x="5587244" y="1717546"/>
            <a:ext cx="4273120"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a:extLst>
              <a:ext uri="{FF2B5EF4-FFF2-40B4-BE49-F238E27FC236}">
                <a16:creationId xmlns:a16="http://schemas.microsoft.com/office/drawing/2014/main" id="{8272F0CF-879E-454D-AE0D-67DE7C75E37F}"/>
              </a:ext>
            </a:extLst>
          </p:cNvPr>
          <p:cNvSpPr/>
          <p:nvPr/>
        </p:nvSpPr>
        <p:spPr>
          <a:xfrm>
            <a:off x="120650" y="4127883"/>
            <a:ext cx="4737378"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34B27AA1-7DD9-4C0F-A74D-2014A9B5432D}"/>
              </a:ext>
            </a:extLst>
          </p:cNvPr>
          <p:cNvSpPr/>
          <p:nvPr/>
        </p:nvSpPr>
        <p:spPr>
          <a:xfrm>
            <a:off x="120650" y="190500"/>
            <a:ext cx="4273120"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AF90CD3E-0D3B-4B6C-9EA9-BF5C5A85C530}"/>
              </a:ext>
            </a:extLst>
          </p:cNvPr>
          <p:cNvSpPr txBox="1"/>
          <p:nvPr/>
        </p:nvSpPr>
        <p:spPr>
          <a:xfrm>
            <a:off x="63500" y="405368"/>
            <a:ext cx="4387420" cy="830997"/>
          </a:xfrm>
          <a:prstGeom prst="rect">
            <a:avLst/>
          </a:prstGeom>
          <a:noFill/>
        </p:spPr>
        <p:txBody>
          <a:bodyPr wrap="none" rtlCol="0">
            <a:spAutoFit/>
          </a:bodyPr>
          <a:lstStyle/>
          <a:p>
            <a:r>
              <a:rPr kumimoji="1" lang="en-US" altLang="ja-JP" sz="4800" b="1" dirty="0">
                <a:solidFill>
                  <a:srgbClr val="FF0000"/>
                </a:solidFill>
                <a:highlight>
                  <a:srgbClr val="000000"/>
                </a:highlight>
                <a:latin typeface="Bell MT" panose="02020503060305020303" pitchFamily="18" charset="0"/>
              </a:rPr>
              <a:t>Seven</a:t>
            </a:r>
            <a:r>
              <a:rPr lang="ja-JP" altLang="en-US" sz="4800" b="1" dirty="0">
                <a:solidFill>
                  <a:srgbClr val="FF0000"/>
                </a:solidFill>
                <a:highlight>
                  <a:srgbClr val="000000"/>
                </a:highlight>
                <a:latin typeface="Bell MT" panose="02020503060305020303" pitchFamily="18" charset="0"/>
              </a:rPr>
              <a:t> </a:t>
            </a:r>
            <a:r>
              <a:rPr kumimoji="1" lang="en-US" altLang="ja-JP" sz="4800" b="1" dirty="0">
                <a:solidFill>
                  <a:srgbClr val="FF0000"/>
                </a:solidFill>
                <a:highlight>
                  <a:srgbClr val="000000"/>
                </a:highlight>
                <a:latin typeface="Bell MT" panose="02020503060305020303" pitchFamily="18" charset="0"/>
              </a:rPr>
              <a:t>E</a:t>
            </a:r>
            <a:r>
              <a:rPr kumimoji="1" lang="en-US" altLang="ja-JP" sz="4800" b="1" dirty="0">
                <a:solidFill>
                  <a:schemeClr val="bg1"/>
                </a:solidFill>
                <a:highlight>
                  <a:srgbClr val="000000"/>
                </a:highlight>
                <a:latin typeface="Bell MT" panose="02020503060305020303" pitchFamily="18" charset="0"/>
              </a:rPr>
              <a:t>l</a:t>
            </a:r>
            <a:r>
              <a:rPr kumimoji="1" lang="en-US" altLang="ja-JP" sz="4800" b="1" dirty="0">
                <a:solidFill>
                  <a:srgbClr val="FF0000"/>
                </a:solidFill>
                <a:highlight>
                  <a:srgbClr val="000000"/>
                </a:highlight>
                <a:latin typeface="Bell MT" panose="02020503060305020303" pitchFamily="18" charset="0"/>
              </a:rPr>
              <a:t>ements</a:t>
            </a:r>
            <a:endParaRPr kumimoji="1" lang="ja-JP" altLang="en-US" sz="4800" b="1" dirty="0">
              <a:solidFill>
                <a:srgbClr val="FF0000"/>
              </a:solidFill>
              <a:highlight>
                <a:srgbClr val="000000"/>
              </a:highlight>
              <a:latin typeface="Bell MT" panose="02020503060305020303" pitchFamily="18" charset="0"/>
            </a:endParaRPr>
          </a:p>
        </p:txBody>
      </p:sp>
      <p:sp>
        <p:nvSpPr>
          <p:cNvPr id="7" name="正方形/長方形 6">
            <a:extLst>
              <a:ext uri="{FF2B5EF4-FFF2-40B4-BE49-F238E27FC236}">
                <a16:creationId xmlns:a16="http://schemas.microsoft.com/office/drawing/2014/main" id="{07F2643F-03B5-45FC-9501-F4B492CA4450}"/>
              </a:ext>
            </a:extLst>
          </p:cNvPr>
          <p:cNvSpPr/>
          <p:nvPr/>
        </p:nvSpPr>
        <p:spPr>
          <a:xfrm>
            <a:off x="130141" y="1597091"/>
            <a:ext cx="4237499" cy="113399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77ADE6D-1324-4280-A346-9CB48ADD86D6}"/>
              </a:ext>
            </a:extLst>
          </p:cNvPr>
          <p:cNvSpPr txBox="1"/>
          <p:nvPr/>
        </p:nvSpPr>
        <p:spPr>
          <a:xfrm>
            <a:off x="130141" y="1922762"/>
            <a:ext cx="3945829" cy="769441"/>
          </a:xfrm>
          <a:prstGeom prst="rect">
            <a:avLst/>
          </a:prstGeom>
          <a:noFill/>
        </p:spPr>
        <p:txBody>
          <a:bodyPr wrap="square">
            <a:spAutoFit/>
          </a:bodyPr>
          <a:lstStyle/>
          <a:p>
            <a:r>
              <a:rPr kumimoji="1" lang="en-US" altLang="ja-JP" sz="4400" b="1" dirty="0">
                <a:solidFill>
                  <a:schemeClr val="accent1"/>
                </a:solidFill>
                <a:highlight>
                  <a:srgbClr val="000000"/>
                </a:highlight>
                <a:latin typeface="Mongolian Baiti" panose="03000500000000000000" pitchFamily="66" charset="0"/>
                <a:cs typeface="Mongolian Baiti" panose="03000500000000000000" pitchFamily="66" charset="0"/>
              </a:rPr>
              <a:t>Seven</a:t>
            </a:r>
            <a:r>
              <a:rPr lang="ja-JP" altLang="en-US" sz="4400" b="1" dirty="0">
                <a:solidFill>
                  <a:schemeClr val="accent1"/>
                </a:solidFill>
                <a:highlight>
                  <a:srgbClr val="000000"/>
                </a:highlight>
                <a:latin typeface="Mongolian Baiti" panose="03000500000000000000" pitchFamily="66" charset="0"/>
                <a:cs typeface="Mongolian Baiti" panose="03000500000000000000" pitchFamily="66" charset="0"/>
              </a:rPr>
              <a:t> </a:t>
            </a:r>
            <a:r>
              <a:rPr kumimoji="1" lang="en-US" altLang="ja-JP" sz="4400" b="1" dirty="0">
                <a:solidFill>
                  <a:schemeClr val="accent1"/>
                </a:solidFill>
                <a:highlight>
                  <a:srgbClr val="000000"/>
                </a:highlight>
                <a:latin typeface="Mongolian Baiti" panose="03000500000000000000" pitchFamily="66" charset="0"/>
                <a:cs typeface="Mongolian Baiti" panose="03000500000000000000" pitchFamily="66" charset="0"/>
              </a:rPr>
              <a:t>Elements</a:t>
            </a:r>
            <a:endParaRPr kumimoji="1" lang="ja-JP" altLang="en-US" sz="4400" b="1" dirty="0">
              <a:solidFill>
                <a:schemeClr val="accent1"/>
              </a:solidFill>
              <a:highlight>
                <a:srgbClr val="000000"/>
              </a:highlight>
              <a:latin typeface="Mongolian Baiti" panose="03000500000000000000" pitchFamily="66" charset="0"/>
              <a:cs typeface="Mongolian Baiti" panose="03000500000000000000" pitchFamily="66" charset="0"/>
            </a:endParaRPr>
          </a:p>
        </p:txBody>
      </p:sp>
      <p:sp>
        <p:nvSpPr>
          <p:cNvPr id="24" name="テキスト ボックス 23">
            <a:extLst>
              <a:ext uri="{FF2B5EF4-FFF2-40B4-BE49-F238E27FC236}">
                <a16:creationId xmlns:a16="http://schemas.microsoft.com/office/drawing/2014/main" id="{264CE64B-A87B-4B58-BC80-205723BC9714}"/>
              </a:ext>
            </a:extLst>
          </p:cNvPr>
          <p:cNvSpPr txBox="1"/>
          <p:nvPr/>
        </p:nvSpPr>
        <p:spPr>
          <a:xfrm>
            <a:off x="3396613" y="1617179"/>
            <a:ext cx="851416" cy="923330"/>
          </a:xfrm>
          <a:prstGeom prst="rect">
            <a:avLst/>
          </a:prstGeom>
          <a:noFill/>
        </p:spPr>
        <p:txBody>
          <a:bodyPr wrap="square">
            <a:spAutoFit/>
          </a:bodyPr>
          <a:lstStyle/>
          <a:p>
            <a:r>
              <a:rPr kumimoji="1" lang="ja-JP" altLang="en-US" sz="5400" b="1" dirty="0">
                <a:solidFill>
                  <a:schemeClr val="accent1"/>
                </a:solidFill>
                <a:latin typeface="Mongolian Baiti" panose="03000500000000000000" pitchFamily="66" charset="0"/>
                <a:cs typeface="Mongolian Baiti" panose="03000500000000000000" pitchFamily="66" charset="0"/>
              </a:rPr>
              <a:t>☂</a:t>
            </a:r>
            <a:endParaRPr lang="ja-JP" altLang="en-US" sz="5400" dirty="0"/>
          </a:p>
        </p:txBody>
      </p:sp>
      <p:sp>
        <p:nvSpPr>
          <p:cNvPr id="25" name="テキスト ボックス 24">
            <a:extLst>
              <a:ext uri="{FF2B5EF4-FFF2-40B4-BE49-F238E27FC236}">
                <a16:creationId xmlns:a16="http://schemas.microsoft.com/office/drawing/2014/main" id="{FFA1D1A0-7CE2-465A-9799-22B6B7436200}"/>
              </a:ext>
            </a:extLst>
          </p:cNvPr>
          <p:cNvSpPr txBox="1"/>
          <p:nvPr/>
        </p:nvSpPr>
        <p:spPr>
          <a:xfrm>
            <a:off x="26500" y="2979897"/>
            <a:ext cx="6642100" cy="923330"/>
          </a:xfrm>
          <a:prstGeom prst="rect">
            <a:avLst/>
          </a:prstGeom>
          <a:noFill/>
        </p:spPr>
        <p:txBody>
          <a:bodyPr wrap="square">
            <a:spAutoFit/>
          </a:bodyPr>
          <a:lstStyle/>
          <a:p>
            <a:r>
              <a:rPr kumimoji="1" lang="en-US" altLang="ja-JP" sz="5400" b="1" dirty="0">
                <a:solidFill>
                  <a:srgbClr val="FFFF00"/>
                </a:solidFill>
                <a:highlight>
                  <a:srgbClr val="000000"/>
                </a:highlight>
                <a:latin typeface="Magneto" panose="04030805050802020D02" pitchFamily="82" charset="0"/>
              </a:rPr>
              <a:t>Seven</a:t>
            </a:r>
            <a:r>
              <a:rPr lang="ja-JP" altLang="en-US" sz="5400" b="1" dirty="0">
                <a:solidFill>
                  <a:srgbClr val="FFFF00"/>
                </a:solidFill>
                <a:highlight>
                  <a:srgbClr val="000000"/>
                </a:highlight>
                <a:latin typeface="Magneto" panose="04030805050802020D02" pitchFamily="82" charset="0"/>
              </a:rPr>
              <a:t> </a:t>
            </a:r>
            <a:r>
              <a:rPr kumimoji="1" lang="en-US" altLang="ja-JP" sz="5400" b="1" dirty="0">
                <a:solidFill>
                  <a:srgbClr val="FFFF00"/>
                </a:solidFill>
                <a:highlight>
                  <a:srgbClr val="000000"/>
                </a:highlight>
                <a:latin typeface="Magneto" panose="04030805050802020D02" pitchFamily="82" charset="0"/>
              </a:rPr>
              <a:t>Elements</a:t>
            </a:r>
            <a:endParaRPr kumimoji="1" lang="ja-JP" altLang="en-US" sz="5400" b="1" dirty="0">
              <a:solidFill>
                <a:srgbClr val="FFFF00"/>
              </a:solidFill>
              <a:highlight>
                <a:srgbClr val="000000"/>
              </a:highlight>
              <a:latin typeface="Magneto" panose="04030805050802020D02" pitchFamily="82" charset="0"/>
            </a:endParaRPr>
          </a:p>
        </p:txBody>
      </p:sp>
      <p:sp>
        <p:nvSpPr>
          <p:cNvPr id="31" name="テキスト ボックス 30">
            <a:extLst>
              <a:ext uri="{FF2B5EF4-FFF2-40B4-BE49-F238E27FC236}">
                <a16:creationId xmlns:a16="http://schemas.microsoft.com/office/drawing/2014/main" id="{C4B00E32-4D08-4A37-A62B-F93717A7F4A6}"/>
              </a:ext>
            </a:extLst>
          </p:cNvPr>
          <p:cNvSpPr txBox="1"/>
          <p:nvPr/>
        </p:nvSpPr>
        <p:spPr>
          <a:xfrm>
            <a:off x="72744" y="4448280"/>
            <a:ext cx="4785284" cy="769441"/>
          </a:xfrm>
          <a:prstGeom prst="rect">
            <a:avLst/>
          </a:prstGeom>
          <a:noFill/>
        </p:spPr>
        <p:txBody>
          <a:bodyPr wrap="none" rtlCol="0">
            <a:spAutoFit/>
          </a:bodyPr>
          <a:lstStyle/>
          <a:p>
            <a:r>
              <a:rPr kumimoji="1" lang="en-US" altLang="ja-JP" sz="4400" b="1" dirty="0">
                <a:solidFill>
                  <a:srgbClr val="70F0AA"/>
                </a:solidFill>
                <a:highlight>
                  <a:srgbClr val="000000"/>
                </a:highlight>
                <a:latin typeface="Algerian" panose="04020705040A02060702" pitchFamily="82" charset="0"/>
              </a:rPr>
              <a:t>Seven</a:t>
            </a:r>
            <a:r>
              <a:rPr lang="ja-JP" altLang="en-US" sz="4400" b="1" dirty="0">
                <a:solidFill>
                  <a:srgbClr val="70F0AA"/>
                </a:solidFill>
                <a:highlight>
                  <a:srgbClr val="000000"/>
                </a:highlight>
                <a:latin typeface="Algerian" panose="04020705040A02060702" pitchFamily="82" charset="0"/>
              </a:rPr>
              <a:t> </a:t>
            </a:r>
            <a:r>
              <a:rPr lang="en-US" altLang="ja-JP" sz="4400" b="1" dirty="0">
                <a:solidFill>
                  <a:srgbClr val="70F0AA"/>
                </a:solidFill>
                <a:highlight>
                  <a:srgbClr val="000000"/>
                </a:highlight>
                <a:latin typeface="Algerian" panose="04020705040A02060702" pitchFamily="82" charset="0"/>
              </a:rPr>
              <a:t>Elements</a:t>
            </a:r>
            <a:endParaRPr kumimoji="1" lang="ja-JP" altLang="en-US" sz="4400" b="1" dirty="0">
              <a:solidFill>
                <a:srgbClr val="70F0AA"/>
              </a:solidFill>
              <a:highlight>
                <a:srgbClr val="000000"/>
              </a:highlight>
              <a:latin typeface="Algerian" panose="04020705040A02060702" pitchFamily="82" charset="0"/>
            </a:endParaRPr>
          </a:p>
        </p:txBody>
      </p:sp>
      <p:sp>
        <p:nvSpPr>
          <p:cNvPr id="50" name="円弧 49">
            <a:extLst>
              <a:ext uri="{FF2B5EF4-FFF2-40B4-BE49-F238E27FC236}">
                <a16:creationId xmlns:a16="http://schemas.microsoft.com/office/drawing/2014/main" id="{79D27F05-CF7C-432E-A191-12BF9795A6D5}"/>
              </a:ext>
            </a:extLst>
          </p:cNvPr>
          <p:cNvSpPr/>
          <p:nvPr/>
        </p:nvSpPr>
        <p:spPr>
          <a:xfrm rot="20936974">
            <a:off x="-767331" y="4632785"/>
            <a:ext cx="3380130" cy="784000"/>
          </a:xfrm>
          <a:prstGeom prst="arc">
            <a:avLst>
              <a:gd name="adj1" fmla="val 12200724"/>
              <a:gd name="adj2" fmla="val 0"/>
            </a:avLst>
          </a:prstGeom>
          <a:ln>
            <a:solidFill>
              <a:schemeClr val="bg1"/>
            </a:solidFill>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51" name="円弧 50">
            <a:extLst>
              <a:ext uri="{FF2B5EF4-FFF2-40B4-BE49-F238E27FC236}">
                <a16:creationId xmlns:a16="http://schemas.microsoft.com/office/drawing/2014/main" id="{27519060-0A6D-4421-A2D2-3FF9CACB209C}"/>
              </a:ext>
            </a:extLst>
          </p:cNvPr>
          <p:cNvSpPr/>
          <p:nvPr/>
        </p:nvSpPr>
        <p:spPr>
          <a:xfrm rot="228984" flipH="1" flipV="1">
            <a:off x="2547694" y="4342754"/>
            <a:ext cx="2403509" cy="674503"/>
          </a:xfrm>
          <a:prstGeom prst="arc">
            <a:avLst>
              <a:gd name="adj1" fmla="val 11091436"/>
              <a:gd name="adj2" fmla="val 21474857"/>
            </a:avLst>
          </a:prstGeom>
          <a:ln>
            <a:solidFill>
              <a:schemeClr val="bg1"/>
            </a:solidFill>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6EB01E6A-0EB7-4888-BB14-1D7C5AA56CE4}"/>
              </a:ext>
            </a:extLst>
          </p:cNvPr>
          <p:cNvSpPr txBox="1"/>
          <p:nvPr/>
        </p:nvSpPr>
        <p:spPr>
          <a:xfrm>
            <a:off x="124059" y="5888130"/>
            <a:ext cx="4225519" cy="769441"/>
          </a:xfrm>
          <a:prstGeom prst="rect">
            <a:avLst/>
          </a:prstGeom>
          <a:noFill/>
        </p:spPr>
        <p:txBody>
          <a:bodyPr wrap="square">
            <a:spAutoFit/>
          </a:bodyPr>
          <a:lstStyle/>
          <a:p>
            <a:r>
              <a:rPr kumimoji="1" lang="en-US" altLang="ja-JP" sz="4400" b="1" dirty="0">
                <a:solidFill>
                  <a:srgbClr val="B45210"/>
                </a:solidFill>
                <a:highlight>
                  <a:srgbClr val="000000"/>
                </a:highlight>
                <a:latin typeface="Bell MT" panose="02020503060305020303" pitchFamily="18" charset="0"/>
              </a:rPr>
              <a:t>Seven</a:t>
            </a:r>
            <a:r>
              <a:rPr lang="ja-JP" altLang="en-US" sz="4400" b="1" dirty="0">
                <a:solidFill>
                  <a:srgbClr val="B45210"/>
                </a:solidFill>
                <a:highlight>
                  <a:srgbClr val="000000"/>
                </a:highlight>
                <a:latin typeface="Bell MT" panose="02020503060305020303" pitchFamily="18" charset="0"/>
              </a:rPr>
              <a:t> </a:t>
            </a:r>
            <a:r>
              <a:rPr kumimoji="1" lang="en-US" altLang="ja-JP" sz="4400" b="1" dirty="0">
                <a:solidFill>
                  <a:srgbClr val="B45210"/>
                </a:solidFill>
                <a:highlight>
                  <a:srgbClr val="000000"/>
                </a:highlight>
                <a:latin typeface="Bell MT" panose="02020503060305020303" pitchFamily="18" charset="0"/>
              </a:rPr>
              <a:t>Elements</a:t>
            </a:r>
            <a:endParaRPr kumimoji="1" lang="ja-JP" altLang="en-US" sz="4400" b="1" dirty="0">
              <a:solidFill>
                <a:srgbClr val="B45210"/>
              </a:solidFill>
              <a:highlight>
                <a:srgbClr val="000000"/>
              </a:highlight>
              <a:latin typeface="Bell MT" panose="02020503060305020303" pitchFamily="18" charset="0"/>
            </a:endParaRPr>
          </a:p>
        </p:txBody>
      </p:sp>
      <p:sp>
        <p:nvSpPr>
          <p:cNvPr id="56" name="テキスト ボックス 55">
            <a:extLst>
              <a:ext uri="{FF2B5EF4-FFF2-40B4-BE49-F238E27FC236}">
                <a16:creationId xmlns:a16="http://schemas.microsoft.com/office/drawing/2014/main" id="{042945A7-65DC-41F5-96CF-C07E87147982}"/>
              </a:ext>
            </a:extLst>
          </p:cNvPr>
          <p:cNvSpPr txBox="1"/>
          <p:nvPr/>
        </p:nvSpPr>
        <p:spPr>
          <a:xfrm>
            <a:off x="5584537" y="2049766"/>
            <a:ext cx="4352407" cy="769441"/>
          </a:xfrm>
          <a:prstGeom prst="rect">
            <a:avLst/>
          </a:prstGeom>
          <a:noFill/>
        </p:spPr>
        <p:txBody>
          <a:bodyPr wrap="square">
            <a:spAutoFit/>
          </a:bodyPr>
          <a:lstStyle/>
          <a:p>
            <a:r>
              <a:rPr kumimoji="1" lang="en-US" altLang="ja-JP" sz="4400" b="1" dirty="0">
                <a:solidFill>
                  <a:schemeClr val="bg1">
                    <a:lumMod val="75000"/>
                  </a:schemeClr>
                </a:solidFill>
                <a:highlight>
                  <a:srgbClr val="000000"/>
                </a:highlight>
                <a:latin typeface="Bell MT" panose="02020503060305020303" pitchFamily="18" charset="0"/>
              </a:rPr>
              <a:t>Seven</a:t>
            </a:r>
            <a:r>
              <a:rPr lang="ja-JP" altLang="en-US" sz="4400" b="1" dirty="0">
                <a:solidFill>
                  <a:schemeClr val="bg1">
                    <a:lumMod val="75000"/>
                  </a:schemeClr>
                </a:solidFill>
                <a:highlight>
                  <a:srgbClr val="000000"/>
                </a:highlight>
                <a:latin typeface="Bell MT" panose="02020503060305020303" pitchFamily="18" charset="0"/>
              </a:rPr>
              <a:t> </a:t>
            </a:r>
            <a:r>
              <a:rPr kumimoji="1" lang="en-US" altLang="ja-JP" sz="4400" b="1" dirty="0">
                <a:solidFill>
                  <a:schemeClr val="bg1">
                    <a:lumMod val="75000"/>
                  </a:schemeClr>
                </a:solidFill>
                <a:highlight>
                  <a:srgbClr val="000000"/>
                </a:highlight>
                <a:latin typeface="Bell MT" panose="02020503060305020303" pitchFamily="18" charset="0"/>
              </a:rPr>
              <a:t>Elements</a:t>
            </a:r>
            <a:endParaRPr kumimoji="1" lang="ja-JP" altLang="en-US" sz="4400" b="1" dirty="0">
              <a:solidFill>
                <a:schemeClr val="bg1">
                  <a:lumMod val="75000"/>
                </a:schemeClr>
              </a:solidFill>
              <a:highlight>
                <a:srgbClr val="000000"/>
              </a:highlight>
              <a:latin typeface="Bell MT" panose="02020503060305020303" pitchFamily="18" charset="0"/>
            </a:endParaRPr>
          </a:p>
        </p:txBody>
      </p:sp>
      <p:sp>
        <p:nvSpPr>
          <p:cNvPr id="58" name="テキスト ボックス 57">
            <a:extLst>
              <a:ext uri="{FF2B5EF4-FFF2-40B4-BE49-F238E27FC236}">
                <a16:creationId xmlns:a16="http://schemas.microsoft.com/office/drawing/2014/main" id="{21B2E26C-B0B2-4C70-AB20-CF74F73A2F96}"/>
              </a:ext>
            </a:extLst>
          </p:cNvPr>
          <p:cNvSpPr txBox="1"/>
          <p:nvPr/>
        </p:nvSpPr>
        <p:spPr>
          <a:xfrm>
            <a:off x="5665155" y="481602"/>
            <a:ext cx="4327628" cy="769441"/>
          </a:xfrm>
          <a:prstGeom prst="rect">
            <a:avLst/>
          </a:prstGeom>
          <a:noFill/>
        </p:spPr>
        <p:txBody>
          <a:bodyPr wrap="square">
            <a:spAutoFit/>
          </a:bodyPr>
          <a:lstStyle/>
          <a:p>
            <a:r>
              <a:rPr kumimoji="1" lang="en-US" altLang="ja-JP" sz="4400" b="1" dirty="0">
                <a:solidFill>
                  <a:srgbClr val="82DAE6"/>
                </a:solidFill>
                <a:highlight>
                  <a:srgbClr val="000000"/>
                </a:highlight>
                <a:latin typeface="Bell MT" panose="02020503060305020303" pitchFamily="18" charset="0"/>
              </a:rPr>
              <a:t>Seven</a:t>
            </a:r>
            <a:r>
              <a:rPr lang="ja-JP" altLang="en-US" sz="4400" b="1" dirty="0">
                <a:solidFill>
                  <a:srgbClr val="82DAE6"/>
                </a:solidFill>
                <a:highlight>
                  <a:srgbClr val="000000"/>
                </a:highlight>
                <a:latin typeface="Bell MT" panose="02020503060305020303" pitchFamily="18" charset="0"/>
              </a:rPr>
              <a:t> </a:t>
            </a:r>
            <a:r>
              <a:rPr kumimoji="1" lang="en-US" altLang="ja-JP" sz="4400" b="1" dirty="0">
                <a:solidFill>
                  <a:srgbClr val="82DAE6"/>
                </a:solidFill>
                <a:highlight>
                  <a:srgbClr val="000000"/>
                </a:highlight>
                <a:latin typeface="Bell MT" panose="02020503060305020303" pitchFamily="18" charset="0"/>
              </a:rPr>
              <a:t>Elements</a:t>
            </a:r>
            <a:endParaRPr kumimoji="1" lang="ja-JP" altLang="en-US" sz="4400" b="1" dirty="0">
              <a:solidFill>
                <a:srgbClr val="82DAE6"/>
              </a:solidFill>
              <a:highlight>
                <a:srgbClr val="000000"/>
              </a:highlight>
              <a:latin typeface="Bell MT" panose="02020503060305020303" pitchFamily="18" charset="0"/>
            </a:endParaRPr>
          </a:p>
        </p:txBody>
      </p:sp>
      <p:sp>
        <p:nvSpPr>
          <p:cNvPr id="66" name="楕円 65">
            <a:extLst>
              <a:ext uri="{FF2B5EF4-FFF2-40B4-BE49-F238E27FC236}">
                <a16:creationId xmlns:a16="http://schemas.microsoft.com/office/drawing/2014/main" id="{503C50A8-73E9-4BB9-96B3-B3740FCAA50E}"/>
              </a:ext>
            </a:extLst>
          </p:cNvPr>
          <p:cNvSpPr/>
          <p:nvPr/>
        </p:nvSpPr>
        <p:spPr>
          <a:xfrm>
            <a:off x="9586237" y="794422"/>
            <a:ext cx="446678" cy="410254"/>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月 68">
            <a:extLst>
              <a:ext uri="{FF2B5EF4-FFF2-40B4-BE49-F238E27FC236}">
                <a16:creationId xmlns:a16="http://schemas.microsoft.com/office/drawing/2014/main" id="{86CD0742-FC52-4580-A06F-7134A313820D}"/>
              </a:ext>
            </a:extLst>
          </p:cNvPr>
          <p:cNvSpPr/>
          <p:nvPr/>
        </p:nvSpPr>
        <p:spPr>
          <a:xfrm rot="5400000">
            <a:off x="5730044" y="472785"/>
            <a:ext cx="457200" cy="1805428"/>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6" name="月 75">
            <a:extLst>
              <a:ext uri="{FF2B5EF4-FFF2-40B4-BE49-F238E27FC236}">
                <a16:creationId xmlns:a16="http://schemas.microsoft.com/office/drawing/2014/main" id="{879CDB71-F12D-438E-9855-7BEC8191D79A}"/>
              </a:ext>
            </a:extLst>
          </p:cNvPr>
          <p:cNvSpPr/>
          <p:nvPr/>
        </p:nvSpPr>
        <p:spPr>
          <a:xfrm rot="5400000">
            <a:off x="9225522" y="385815"/>
            <a:ext cx="457200" cy="1905138"/>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月 76">
            <a:extLst>
              <a:ext uri="{FF2B5EF4-FFF2-40B4-BE49-F238E27FC236}">
                <a16:creationId xmlns:a16="http://schemas.microsoft.com/office/drawing/2014/main" id="{2A708A3C-69A9-41A8-8E1B-ADF68CC662C5}"/>
              </a:ext>
            </a:extLst>
          </p:cNvPr>
          <p:cNvSpPr/>
          <p:nvPr/>
        </p:nvSpPr>
        <p:spPr>
          <a:xfrm rot="5870594">
            <a:off x="6976102" y="397016"/>
            <a:ext cx="457200" cy="1860148"/>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月 77">
            <a:extLst>
              <a:ext uri="{FF2B5EF4-FFF2-40B4-BE49-F238E27FC236}">
                <a16:creationId xmlns:a16="http://schemas.microsoft.com/office/drawing/2014/main" id="{66EE8260-AC7F-4DC2-A0CC-4A870E76B9CA}"/>
              </a:ext>
            </a:extLst>
          </p:cNvPr>
          <p:cNvSpPr/>
          <p:nvPr/>
        </p:nvSpPr>
        <p:spPr>
          <a:xfrm rot="5723498">
            <a:off x="8189012" y="295468"/>
            <a:ext cx="457200" cy="2093880"/>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0" name="直線コネクタ 79">
            <a:extLst>
              <a:ext uri="{FF2B5EF4-FFF2-40B4-BE49-F238E27FC236}">
                <a16:creationId xmlns:a16="http://schemas.microsoft.com/office/drawing/2014/main" id="{C6409541-6BD0-4B26-9AAF-1F7CF7CAA7B6}"/>
              </a:ext>
            </a:extLst>
          </p:cNvPr>
          <p:cNvCxnSpPr>
            <a:cxnSpLocks/>
          </p:cNvCxnSpPr>
          <p:nvPr/>
        </p:nvCxnSpPr>
        <p:spPr>
          <a:xfrm flipH="1" flipV="1">
            <a:off x="5591510" y="197798"/>
            <a:ext cx="9850" cy="1207329"/>
          </a:xfrm>
          <a:prstGeom prst="line">
            <a:avLst/>
          </a:prstGeom>
        </p:spPr>
        <p:style>
          <a:lnRef idx="3">
            <a:schemeClr val="dk1"/>
          </a:lnRef>
          <a:fillRef idx="0">
            <a:schemeClr val="dk1"/>
          </a:fillRef>
          <a:effectRef idx="2">
            <a:schemeClr val="dk1"/>
          </a:effectRef>
          <a:fontRef idx="minor">
            <a:schemeClr val="tx1"/>
          </a:fontRef>
        </p:style>
      </p:cxnSp>
      <p:cxnSp>
        <p:nvCxnSpPr>
          <p:cNvPr id="84" name="直線コネクタ 83">
            <a:extLst>
              <a:ext uri="{FF2B5EF4-FFF2-40B4-BE49-F238E27FC236}">
                <a16:creationId xmlns:a16="http://schemas.microsoft.com/office/drawing/2014/main" id="{9DC0A0E8-D366-490A-A31E-E69F1D6C7497}"/>
              </a:ext>
            </a:extLst>
          </p:cNvPr>
          <p:cNvCxnSpPr>
            <a:cxnSpLocks/>
          </p:cNvCxnSpPr>
          <p:nvPr/>
        </p:nvCxnSpPr>
        <p:spPr>
          <a:xfrm>
            <a:off x="5603849" y="1398760"/>
            <a:ext cx="4520734" cy="39359"/>
          </a:xfrm>
          <a:prstGeom prst="line">
            <a:avLst/>
          </a:prstGeom>
        </p:spPr>
        <p:style>
          <a:lnRef idx="3">
            <a:schemeClr val="dk1"/>
          </a:lnRef>
          <a:fillRef idx="0">
            <a:schemeClr val="dk1"/>
          </a:fillRef>
          <a:effectRef idx="2">
            <a:schemeClr val="dk1"/>
          </a:effectRef>
          <a:fontRef idx="minor">
            <a:schemeClr val="tx1"/>
          </a:fontRef>
        </p:style>
      </p:cxnSp>
      <p:cxnSp>
        <p:nvCxnSpPr>
          <p:cNvPr id="85" name="直線コネクタ 84">
            <a:extLst>
              <a:ext uri="{FF2B5EF4-FFF2-40B4-BE49-F238E27FC236}">
                <a16:creationId xmlns:a16="http://schemas.microsoft.com/office/drawing/2014/main" id="{45E9023E-CD0B-41FA-BE6E-6D4E1F94CEED}"/>
              </a:ext>
            </a:extLst>
          </p:cNvPr>
          <p:cNvCxnSpPr>
            <a:cxnSpLocks/>
          </p:cNvCxnSpPr>
          <p:nvPr/>
        </p:nvCxnSpPr>
        <p:spPr>
          <a:xfrm>
            <a:off x="10124583" y="238173"/>
            <a:ext cx="0" cy="1217310"/>
          </a:xfrm>
          <a:prstGeom prst="line">
            <a:avLst/>
          </a:prstGeom>
        </p:spPr>
        <p:style>
          <a:lnRef idx="3">
            <a:schemeClr val="dk1"/>
          </a:lnRef>
          <a:fillRef idx="0">
            <a:schemeClr val="dk1"/>
          </a:fillRef>
          <a:effectRef idx="2">
            <a:schemeClr val="dk1"/>
          </a:effectRef>
          <a:fontRef idx="minor">
            <a:schemeClr val="tx1"/>
          </a:fontRef>
        </p:style>
      </p:cxnSp>
      <p:pic>
        <p:nvPicPr>
          <p:cNvPr id="104" name="グラフィックス 103" descr="雪の結晶 単色塗りつぶし">
            <a:extLst>
              <a:ext uri="{FF2B5EF4-FFF2-40B4-BE49-F238E27FC236}">
                <a16:creationId xmlns:a16="http://schemas.microsoft.com/office/drawing/2014/main" id="{96D32AD9-3AB0-4B64-97CF-6C9CB6BE055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81208" y="195212"/>
            <a:ext cx="375389" cy="375389"/>
          </a:xfrm>
          <a:prstGeom prst="rect">
            <a:avLst/>
          </a:prstGeom>
        </p:spPr>
      </p:pic>
      <p:pic>
        <p:nvPicPr>
          <p:cNvPr id="105" name="グラフィックス 104" descr="雪の結晶 単色塗りつぶし">
            <a:extLst>
              <a:ext uri="{FF2B5EF4-FFF2-40B4-BE49-F238E27FC236}">
                <a16:creationId xmlns:a16="http://schemas.microsoft.com/office/drawing/2014/main" id="{CB935BE2-7A36-43F4-8D24-A4551700854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442316" y="440825"/>
            <a:ext cx="375389" cy="375389"/>
          </a:xfrm>
          <a:prstGeom prst="rect">
            <a:avLst/>
          </a:prstGeom>
        </p:spPr>
      </p:pic>
      <p:pic>
        <p:nvPicPr>
          <p:cNvPr id="106" name="グラフィックス 105" descr="雪の結晶 単色塗りつぶし">
            <a:extLst>
              <a:ext uri="{FF2B5EF4-FFF2-40B4-BE49-F238E27FC236}">
                <a16:creationId xmlns:a16="http://schemas.microsoft.com/office/drawing/2014/main" id="{26B5365B-4004-4D88-98D5-D92BB1BD41A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8477" y="247633"/>
            <a:ext cx="375389" cy="375389"/>
          </a:xfrm>
          <a:prstGeom prst="rect">
            <a:avLst/>
          </a:prstGeom>
        </p:spPr>
      </p:pic>
      <p:pic>
        <p:nvPicPr>
          <p:cNvPr id="107" name="グラフィックス 106" descr="雪の結晶 単色塗りつぶし">
            <a:extLst>
              <a:ext uri="{FF2B5EF4-FFF2-40B4-BE49-F238E27FC236}">
                <a16:creationId xmlns:a16="http://schemas.microsoft.com/office/drawing/2014/main" id="{98585C90-7D7A-4F7E-8EA5-04B009B6865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48189" y="428441"/>
            <a:ext cx="375389" cy="375389"/>
          </a:xfrm>
          <a:prstGeom prst="rect">
            <a:avLst/>
          </a:prstGeom>
        </p:spPr>
      </p:pic>
      <p:sp>
        <p:nvSpPr>
          <p:cNvPr id="110" name="楕円 109">
            <a:extLst>
              <a:ext uri="{FF2B5EF4-FFF2-40B4-BE49-F238E27FC236}">
                <a16:creationId xmlns:a16="http://schemas.microsoft.com/office/drawing/2014/main" id="{D1DB24AA-D89F-4BDC-947E-AE75A5553A72}"/>
              </a:ext>
            </a:extLst>
          </p:cNvPr>
          <p:cNvSpPr/>
          <p:nvPr/>
        </p:nvSpPr>
        <p:spPr>
          <a:xfrm>
            <a:off x="9617394" y="488749"/>
            <a:ext cx="375389" cy="362578"/>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楕円 110">
            <a:extLst>
              <a:ext uri="{FF2B5EF4-FFF2-40B4-BE49-F238E27FC236}">
                <a16:creationId xmlns:a16="http://schemas.microsoft.com/office/drawing/2014/main" id="{B72A36E5-D18F-439D-9F78-FB5DDC06B14F}"/>
              </a:ext>
            </a:extLst>
          </p:cNvPr>
          <p:cNvSpPr/>
          <p:nvPr/>
        </p:nvSpPr>
        <p:spPr>
          <a:xfrm>
            <a:off x="9753734" y="847324"/>
            <a:ext cx="116242" cy="118305"/>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楕円 111">
            <a:extLst>
              <a:ext uri="{FF2B5EF4-FFF2-40B4-BE49-F238E27FC236}">
                <a16:creationId xmlns:a16="http://schemas.microsoft.com/office/drawing/2014/main" id="{14CF7E58-C9A7-4381-8468-5CB562F6407C}"/>
              </a:ext>
            </a:extLst>
          </p:cNvPr>
          <p:cNvSpPr/>
          <p:nvPr/>
        </p:nvSpPr>
        <p:spPr>
          <a:xfrm>
            <a:off x="9753734" y="999815"/>
            <a:ext cx="116242" cy="118305"/>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台形 112">
            <a:extLst>
              <a:ext uri="{FF2B5EF4-FFF2-40B4-BE49-F238E27FC236}">
                <a16:creationId xmlns:a16="http://schemas.microsoft.com/office/drawing/2014/main" id="{5A6A7525-765E-4CFA-9C01-AA51BAE60AC0}"/>
              </a:ext>
            </a:extLst>
          </p:cNvPr>
          <p:cNvSpPr/>
          <p:nvPr/>
        </p:nvSpPr>
        <p:spPr>
          <a:xfrm rot="1838875">
            <a:off x="9837433" y="382685"/>
            <a:ext cx="191706" cy="152882"/>
          </a:xfrm>
          <a:prstGeom prst="trapezoid">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正方形/長方形 113">
            <a:extLst>
              <a:ext uri="{FF2B5EF4-FFF2-40B4-BE49-F238E27FC236}">
                <a16:creationId xmlns:a16="http://schemas.microsoft.com/office/drawing/2014/main" id="{49AA939C-3153-4C56-B1EA-DC24CD810009}"/>
              </a:ext>
            </a:extLst>
          </p:cNvPr>
          <p:cNvSpPr/>
          <p:nvPr/>
        </p:nvSpPr>
        <p:spPr>
          <a:xfrm flipV="1">
            <a:off x="9691813" y="548094"/>
            <a:ext cx="8380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正方形/長方形 115">
            <a:extLst>
              <a:ext uri="{FF2B5EF4-FFF2-40B4-BE49-F238E27FC236}">
                <a16:creationId xmlns:a16="http://schemas.microsoft.com/office/drawing/2014/main" id="{1CB33D6B-5113-4A79-8DC8-ACD5D95C4125}"/>
              </a:ext>
            </a:extLst>
          </p:cNvPr>
          <p:cNvSpPr/>
          <p:nvPr/>
        </p:nvSpPr>
        <p:spPr>
          <a:xfrm flipV="1">
            <a:off x="9840746" y="548094"/>
            <a:ext cx="8380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楕円 116">
            <a:extLst>
              <a:ext uri="{FF2B5EF4-FFF2-40B4-BE49-F238E27FC236}">
                <a16:creationId xmlns:a16="http://schemas.microsoft.com/office/drawing/2014/main" id="{5531074D-EB0C-491D-8C04-9E48A7BBEBBA}"/>
              </a:ext>
            </a:extLst>
          </p:cNvPr>
          <p:cNvSpPr/>
          <p:nvPr/>
        </p:nvSpPr>
        <p:spPr>
          <a:xfrm>
            <a:off x="9711749" y="630250"/>
            <a:ext cx="63975" cy="67727"/>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9" name="グラフィックス 118" descr="雪の結晶 単色塗りつぶし">
            <a:extLst>
              <a:ext uri="{FF2B5EF4-FFF2-40B4-BE49-F238E27FC236}">
                <a16:creationId xmlns:a16="http://schemas.microsoft.com/office/drawing/2014/main" id="{235CE857-38A3-4519-87CB-C76C552A989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031011" y="184569"/>
            <a:ext cx="375389" cy="375389"/>
          </a:xfrm>
          <a:prstGeom prst="rect">
            <a:avLst/>
          </a:prstGeom>
        </p:spPr>
      </p:pic>
      <p:pic>
        <p:nvPicPr>
          <p:cNvPr id="151" name="グラフィックス 150" descr="もみの木 単色塗りつぶし">
            <a:extLst>
              <a:ext uri="{FF2B5EF4-FFF2-40B4-BE49-F238E27FC236}">
                <a16:creationId xmlns:a16="http://schemas.microsoft.com/office/drawing/2014/main" id="{3A8D9314-278E-48A1-ACAC-4895D0B84DC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07356" y="5791582"/>
            <a:ext cx="851192" cy="871280"/>
          </a:xfrm>
          <a:prstGeom prst="rect">
            <a:avLst/>
          </a:prstGeom>
        </p:spPr>
      </p:pic>
      <p:pic>
        <p:nvPicPr>
          <p:cNvPr id="153" name="グラフィックス 152" descr="植物 単色塗りつぶし">
            <a:extLst>
              <a:ext uri="{FF2B5EF4-FFF2-40B4-BE49-F238E27FC236}">
                <a16:creationId xmlns:a16="http://schemas.microsoft.com/office/drawing/2014/main" id="{AD3ECFD8-184E-4A74-A7C2-F06C8864E531}"/>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643766" y="5585872"/>
            <a:ext cx="541670" cy="541670"/>
          </a:xfrm>
          <a:prstGeom prst="rect">
            <a:avLst/>
          </a:prstGeom>
        </p:spPr>
      </p:pic>
      <p:pic>
        <p:nvPicPr>
          <p:cNvPr id="155" name="グラフィックス 154" descr="葉 単色塗りつぶし">
            <a:extLst>
              <a:ext uri="{FF2B5EF4-FFF2-40B4-BE49-F238E27FC236}">
                <a16:creationId xmlns:a16="http://schemas.microsoft.com/office/drawing/2014/main" id="{7EFC092F-3F7B-4432-B3E9-9BBB0676C50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617664" y="5791582"/>
            <a:ext cx="430695" cy="430695"/>
          </a:xfrm>
          <a:prstGeom prst="rect">
            <a:avLst/>
          </a:prstGeom>
        </p:spPr>
      </p:pic>
      <p:pic>
        <p:nvPicPr>
          <p:cNvPr id="162" name="グラフィックス 161" descr="ロボット 単色塗りつぶし">
            <a:extLst>
              <a:ext uri="{FF2B5EF4-FFF2-40B4-BE49-F238E27FC236}">
                <a16:creationId xmlns:a16="http://schemas.microsoft.com/office/drawing/2014/main" id="{CE618827-DF16-4279-9FCA-54DAEEE7F949}"/>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9393665" y="2166821"/>
            <a:ext cx="551555" cy="551555"/>
          </a:xfrm>
          <a:prstGeom prst="rect">
            <a:avLst/>
          </a:prstGeom>
        </p:spPr>
      </p:pic>
      <p:pic>
        <p:nvPicPr>
          <p:cNvPr id="167" name="グラフィックス 166" descr="歯車 単色塗りつぶし">
            <a:extLst>
              <a:ext uri="{FF2B5EF4-FFF2-40B4-BE49-F238E27FC236}">
                <a16:creationId xmlns:a16="http://schemas.microsoft.com/office/drawing/2014/main" id="{A3D05193-BE0C-4709-A38B-4712509C8C22}"/>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rot="773286">
            <a:off x="8896695" y="1730181"/>
            <a:ext cx="605273" cy="605273"/>
          </a:xfrm>
          <a:prstGeom prst="rect">
            <a:avLst/>
          </a:prstGeom>
        </p:spPr>
      </p:pic>
      <p:pic>
        <p:nvPicPr>
          <p:cNvPr id="169" name="グラフィックス 168" descr="火 単色塗りつぶし">
            <a:extLst>
              <a:ext uri="{FF2B5EF4-FFF2-40B4-BE49-F238E27FC236}">
                <a16:creationId xmlns:a16="http://schemas.microsoft.com/office/drawing/2014/main" id="{39DAD0B3-B42E-4DD8-A4DD-BB546B18CDAE}"/>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2150640" y="277168"/>
            <a:ext cx="321544" cy="321544"/>
          </a:xfrm>
          <a:prstGeom prst="rect">
            <a:avLst/>
          </a:prstGeom>
        </p:spPr>
      </p:pic>
      <p:pic>
        <p:nvPicPr>
          <p:cNvPr id="175" name="グラフィックス 174" descr="電球と歯車 単色塗りつぶし">
            <a:extLst>
              <a:ext uri="{FF2B5EF4-FFF2-40B4-BE49-F238E27FC236}">
                <a16:creationId xmlns:a16="http://schemas.microsoft.com/office/drawing/2014/main" id="{11BDEB2F-1E0D-455C-A040-AD738D6A03C4}"/>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3800239" y="2992045"/>
            <a:ext cx="374516" cy="374516"/>
          </a:xfrm>
          <a:prstGeom prst="rect">
            <a:avLst/>
          </a:prstGeom>
        </p:spPr>
      </p:pic>
      <p:pic>
        <p:nvPicPr>
          <p:cNvPr id="177" name="グラフィックス 176" descr="歯車 1 つ 単色塗りつぶし">
            <a:extLst>
              <a:ext uri="{FF2B5EF4-FFF2-40B4-BE49-F238E27FC236}">
                <a16:creationId xmlns:a16="http://schemas.microsoft.com/office/drawing/2014/main" id="{C74FEF1D-F5E2-4EF1-8BE5-FFCC398DE29F}"/>
              </a:ext>
            </a:extLst>
          </p:cNvPr>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5916898" y="1886460"/>
            <a:ext cx="418288" cy="418288"/>
          </a:xfrm>
          <a:prstGeom prst="rect">
            <a:avLst/>
          </a:prstGeom>
        </p:spPr>
      </p:pic>
      <p:sp>
        <p:nvSpPr>
          <p:cNvPr id="179" name="楕円 178">
            <a:extLst>
              <a:ext uri="{FF2B5EF4-FFF2-40B4-BE49-F238E27FC236}">
                <a16:creationId xmlns:a16="http://schemas.microsoft.com/office/drawing/2014/main" id="{34D3C7A3-D676-429A-8339-AE152216A6CC}"/>
              </a:ext>
            </a:extLst>
          </p:cNvPr>
          <p:cNvSpPr/>
          <p:nvPr/>
        </p:nvSpPr>
        <p:spPr>
          <a:xfrm>
            <a:off x="9840746" y="621150"/>
            <a:ext cx="63975" cy="67727"/>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0" name="楕円 179">
            <a:extLst>
              <a:ext uri="{FF2B5EF4-FFF2-40B4-BE49-F238E27FC236}">
                <a16:creationId xmlns:a16="http://schemas.microsoft.com/office/drawing/2014/main" id="{733C756E-06E2-43ED-A453-4B31D8E99EE5}"/>
              </a:ext>
            </a:extLst>
          </p:cNvPr>
          <p:cNvSpPr/>
          <p:nvPr/>
        </p:nvSpPr>
        <p:spPr>
          <a:xfrm>
            <a:off x="9715279" y="621916"/>
            <a:ext cx="63975" cy="67727"/>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1" name="稲妻 180">
            <a:extLst>
              <a:ext uri="{FF2B5EF4-FFF2-40B4-BE49-F238E27FC236}">
                <a16:creationId xmlns:a16="http://schemas.microsoft.com/office/drawing/2014/main" id="{B59EA596-BDC6-4531-9C7F-1E1492C8CB74}"/>
              </a:ext>
            </a:extLst>
          </p:cNvPr>
          <p:cNvSpPr/>
          <p:nvPr/>
        </p:nvSpPr>
        <p:spPr>
          <a:xfrm flipH="1">
            <a:off x="1392917" y="3056757"/>
            <a:ext cx="596521" cy="404362"/>
          </a:xfrm>
          <a:prstGeom prst="lightningBolt">
            <a:avLst/>
          </a:prstGeom>
          <a:solidFill>
            <a:srgbClr val="FFFF00"/>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 name="グラフィックス 2" descr="心拍 単色塗りつぶし">
            <a:extLst>
              <a:ext uri="{FF2B5EF4-FFF2-40B4-BE49-F238E27FC236}">
                <a16:creationId xmlns:a16="http://schemas.microsoft.com/office/drawing/2014/main" id="{8F54712E-35FD-45F7-B32F-477AF378540C}"/>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2254469" y="3276808"/>
            <a:ext cx="216045" cy="216045"/>
          </a:xfrm>
          <a:prstGeom prst="rect">
            <a:avLst/>
          </a:prstGeom>
        </p:spPr>
      </p:pic>
      <p:pic>
        <p:nvPicPr>
          <p:cNvPr id="62" name="グラフィックス 61" descr="心拍 単色塗りつぶし">
            <a:extLst>
              <a:ext uri="{FF2B5EF4-FFF2-40B4-BE49-F238E27FC236}">
                <a16:creationId xmlns:a16="http://schemas.microsoft.com/office/drawing/2014/main" id="{C6F06846-1288-4B0A-AB8C-BDCAD5C86F06}"/>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5088927" y="3258539"/>
            <a:ext cx="216045" cy="216045"/>
          </a:xfrm>
          <a:prstGeom prst="rect">
            <a:avLst/>
          </a:prstGeom>
        </p:spPr>
      </p:pic>
      <p:pic>
        <p:nvPicPr>
          <p:cNvPr id="63" name="グラフィックス 62" descr="心拍 単色塗りつぶし">
            <a:extLst>
              <a:ext uri="{FF2B5EF4-FFF2-40B4-BE49-F238E27FC236}">
                <a16:creationId xmlns:a16="http://schemas.microsoft.com/office/drawing/2014/main" id="{DDEA3C89-5BB6-4851-91F8-177228169BA5}"/>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3397278" y="3093912"/>
            <a:ext cx="216045" cy="216045"/>
          </a:xfrm>
          <a:prstGeom prst="rect">
            <a:avLst/>
          </a:prstGeom>
        </p:spPr>
      </p:pic>
      <p:pic>
        <p:nvPicPr>
          <p:cNvPr id="64" name="グラフィックス 63" descr="心拍 単色塗りつぶし">
            <a:extLst>
              <a:ext uri="{FF2B5EF4-FFF2-40B4-BE49-F238E27FC236}">
                <a16:creationId xmlns:a16="http://schemas.microsoft.com/office/drawing/2014/main" id="{ED320427-0F31-450E-BB60-2D1D43428BE7}"/>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5592157" y="3127362"/>
            <a:ext cx="216045" cy="216045"/>
          </a:xfrm>
          <a:prstGeom prst="rect">
            <a:avLst/>
          </a:prstGeom>
        </p:spPr>
      </p:pic>
      <p:pic>
        <p:nvPicPr>
          <p:cNvPr id="65" name="グラフィックス 64" descr="水 単色塗りつぶし">
            <a:extLst>
              <a:ext uri="{FF2B5EF4-FFF2-40B4-BE49-F238E27FC236}">
                <a16:creationId xmlns:a16="http://schemas.microsoft.com/office/drawing/2014/main" id="{87BC7BA3-C66D-4E98-A0C2-D875E84B0559}"/>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2862401" y="1558945"/>
            <a:ext cx="160482" cy="418288"/>
          </a:xfrm>
          <a:prstGeom prst="rect">
            <a:avLst/>
          </a:prstGeom>
        </p:spPr>
      </p:pic>
      <p:pic>
        <p:nvPicPr>
          <p:cNvPr id="67" name="グラフィックス 66" descr="水 単色塗りつぶし">
            <a:extLst>
              <a:ext uri="{FF2B5EF4-FFF2-40B4-BE49-F238E27FC236}">
                <a16:creationId xmlns:a16="http://schemas.microsoft.com/office/drawing/2014/main" id="{09A9ADE5-81C1-4FE9-B8C8-ED2DD72E0EDB}"/>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3252955" y="1789380"/>
            <a:ext cx="160482" cy="418288"/>
          </a:xfrm>
          <a:prstGeom prst="rect">
            <a:avLst/>
          </a:prstGeom>
        </p:spPr>
      </p:pic>
      <p:pic>
        <p:nvPicPr>
          <p:cNvPr id="68" name="グラフィックス 67" descr="水 単色塗りつぶし">
            <a:extLst>
              <a:ext uri="{FF2B5EF4-FFF2-40B4-BE49-F238E27FC236}">
                <a16:creationId xmlns:a16="http://schemas.microsoft.com/office/drawing/2014/main" id="{B85A1C80-BDFC-4809-A932-364648472F36}"/>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2429940" y="1717546"/>
            <a:ext cx="160482" cy="418288"/>
          </a:xfrm>
          <a:prstGeom prst="rect">
            <a:avLst/>
          </a:prstGeom>
        </p:spPr>
      </p:pic>
      <p:pic>
        <p:nvPicPr>
          <p:cNvPr id="70" name="グラフィックス 69" descr="水 単色塗りつぶし">
            <a:extLst>
              <a:ext uri="{FF2B5EF4-FFF2-40B4-BE49-F238E27FC236}">
                <a16:creationId xmlns:a16="http://schemas.microsoft.com/office/drawing/2014/main" id="{51A38CC7-E198-4604-93B6-A1DE07995DB5}"/>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885988" y="1597091"/>
            <a:ext cx="160482" cy="418288"/>
          </a:xfrm>
          <a:prstGeom prst="rect">
            <a:avLst/>
          </a:prstGeom>
        </p:spPr>
      </p:pic>
      <p:pic>
        <p:nvPicPr>
          <p:cNvPr id="71" name="グラフィックス 70" descr="水 単色塗りつぶし">
            <a:extLst>
              <a:ext uri="{FF2B5EF4-FFF2-40B4-BE49-F238E27FC236}">
                <a16:creationId xmlns:a16="http://schemas.microsoft.com/office/drawing/2014/main" id="{1810794C-2271-48B4-BC05-3D34330F8E5E}"/>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394240" y="1797897"/>
            <a:ext cx="160482" cy="418288"/>
          </a:xfrm>
          <a:prstGeom prst="rect">
            <a:avLst/>
          </a:prstGeom>
        </p:spPr>
      </p:pic>
      <p:pic>
        <p:nvPicPr>
          <p:cNvPr id="72" name="グラフィックス 71" descr="水 単色塗りつぶし">
            <a:extLst>
              <a:ext uri="{FF2B5EF4-FFF2-40B4-BE49-F238E27FC236}">
                <a16:creationId xmlns:a16="http://schemas.microsoft.com/office/drawing/2014/main" id="{D67A660A-9AB5-44E6-AC18-E9050BF10D50}"/>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294941" y="1588753"/>
            <a:ext cx="160482" cy="418288"/>
          </a:xfrm>
          <a:prstGeom prst="rect">
            <a:avLst/>
          </a:prstGeom>
        </p:spPr>
      </p:pic>
      <p:pic>
        <p:nvPicPr>
          <p:cNvPr id="73" name="グラフィックス 72" descr="水 単色塗りつぶし">
            <a:extLst>
              <a:ext uri="{FF2B5EF4-FFF2-40B4-BE49-F238E27FC236}">
                <a16:creationId xmlns:a16="http://schemas.microsoft.com/office/drawing/2014/main" id="{49518E81-34DB-4676-A35B-7B01A63258D2}"/>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4199322" y="2009180"/>
            <a:ext cx="160482" cy="418288"/>
          </a:xfrm>
          <a:prstGeom prst="rect">
            <a:avLst/>
          </a:prstGeom>
        </p:spPr>
      </p:pic>
      <p:pic>
        <p:nvPicPr>
          <p:cNvPr id="74" name="グラフィックス 73" descr="水 単色塗りつぶし">
            <a:extLst>
              <a:ext uri="{FF2B5EF4-FFF2-40B4-BE49-F238E27FC236}">
                <a16:creationId xmlns:a16="http://schemas.microsoft.com/office/drawing/2014/main" id="{0185D69E-4526-465F-8A5E-385C4F4D7B1C}"/>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774197" y="1840622"/>
            <a:ext cx="160482" cy="418288"/>
          </a:xfrm>
          <a:prstGeom prst="rect">
            <a:avLst/>
          </a:prstGeom>
        </p:spPr>
      </p:pic>
      <p:pic>
        <p:nvPicPr>
          <p:cNvPr id="75" name="グラフィックス 74" descr="水 単色塗りつぶし">
            <a:extLst>
              <a:ext uri="{FF2B5EF4-FFF2-40B4-BE49-F238E27FC236}">
                <a16:creationId xmlns:a16="http://schemas.microsoft.com/office/drawing/2014/main" id="{D13259AB-B5BB-42FF-9804-8B0B0B796222}"/>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530695" y="2342905"/>
            <a:ext cx="160482" cy="418288"/>
          </a:xfrm>
          <a:prstGeom prst="rect">
            <a:avLst/>
          </a:prstGeom>
        </p:spPr>
      </p:pic>
      <p:pic>
        <p:nvPicPr>
          <p:cNvPr id="79" name="グラフィックス 78" descr="水 単色塗りつぶし">
            <a:extLst>
              <a:ext uri="{FF2B5EF4-FFF2-40B4-BE49-F238E27FC236}">
                <a16:creationId xmlns:a16="http://schemas.microsoft.com/office/drawing/2014/main" id="{C30E118F-8659-4943-B6B4-BE2D92609EC4}"/>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034481" y="1566984"/>
            <a:ext cx="160482" cy="418288"/>
          </a:xfrm>
          <a:prstGeom prst="rect">
            <a:avLst/>
          </a:prstGeom>
        </p:spPr>
      </p:pic>
      <p:pic>
        <p:nvPicPr>
          <p:cNvPr id="12" name="グラフィックス 11" descr="魚 単色塗りつぶし">
            <a:extLst>
              <a:ext uri="{FF2B5EF4-FFF2-40B4-BE49-F238E27FC236}">
                <a16:creationId xmlns:a16="http://schemas.microsoft.com/office/drawing/2014/main" id="{341AA9F1-CE96-4E3D-83BA-5904DAF82805}"/>
              </a:ext>
            </a:extLst>
          </p:cNvPr>
          <p:cNvPicPr>
            <a:picLocks noChangeAspect="1"/>
          </p:cNvPicPr>
          <p:nvPr/>
        </p:nvPicPr>
        <p:blipFill>
          <a:blip r:embed="rId24">
            <a:extLst>
              <a:ext uri="{28A0092B-C50C-407E-A947-70E740481C1C}">
                <a14:useLocalDpi xmlns:a14="http://schemas.microsoft.com/office/drawing/2010/main" val="0"/>
              </a:ext>
              <a:ext uri="{96DAC541-7B7A-43D3-8B79-37D633B846F1}">
                <asvg:svgBlip xmlns:asvg="http://schemas.microsoft.com/office/drawing/2016/SVG/main" r:embed="rId25"/>
              </a:ext>
            </a:extLst>
          </a:blip>
          <a:stretch>
            <a:fillRect/>
          </a:stretch>
        </p:blipFill>
        <p:spPr>
          <a:xfrm>
            <a:off x="3788623" y="2314378"/>
            <a:ext cx="545099" cy="545099"/>
          </a:xfrm>
          <a:prstGeom prst="rect">
            <a:avLst/>
          </a:prstGeom>
        </p:spPr>
      </p:pic>
    </p:spTree>
    <p:extLst>
      <p:ext uri="{BB962C8B-B14F-4D97-AF65-F5344CB8AC3E}">
        <p14:creationId xmlns:p14="http://schemas.microsoft.com/office/powerpoint/2010/main" val="446352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6AB40D51-BB46-4461-8EF0-536A7C475642}"/>
              </a:ext>
            </a:extLst>
          </p:cNvPr>
          <p:cNvSpPr/>
          <p:nvPr/>
        </p:nvSpPr>
        <p:spPr>
          <a:xfrm>
            <a:off x="1629355" y="850900"/>
            <a:ext cx="2723823" cy="8255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D5F723DF-E44D-4631-8BED-04F9F041EEFE}"/>
              </a:ext>
            </a:extLst>
          </p:cNvPr>
          <p:cNvSpPr txBox="1"/>
          <p:nvPr/>
        </p:nvSpPr>
        <p:spPr>
          <a:xfrm>
            <a:off x="190500" y="177800"/>
            <a:ext cx="2800767" cy="461665"/>
          </a:xfrm>
          <a:prstGeom prst="rect">
            <a:avLst/>
          </a:prstGeom>
          <a:noFill/>
        </p:spPr>
        <p:txBody>
          <a:bodyPr wrap="none" rtlCol="0">
            <a:spAutoFit/>
          </a:bodyPr>
          <a:lstStyle/>
          <a:p>
            <a:r>
              <a:rPr kumimoji="1" lang="ja-JP" altLang="en-US" sz="2400" b="1" dirty="0"/>
              <a:t>セーブ</a:t>
            </a:r>
            <a:r>
              <a:rPr kumimoji="1" lang="en-US" altLang="ja-JP" sz="2400" b="1" dirty="0"/>
              <a:t>/</a:t>
            </a:r>
            <a:r>
              <a:rPr kumimoji="1" lang="ja-JP" altLang="en-US" sz="2400" b="1" dirty="0"/>
              <a:t>ロード画面</a:t>
            </a:r>
          </a:p>
        </p:txBody>
      </p:sp>
      <p:sp>
        <p:nvSpPr>
          <p:cNvPr id="3" name="テキスト ボックス 2">
            <a:extLst>
              <a:ext uri="{FF2B5EF4-FFF2-40B4-BE49-F238E27FC236}">
                <a16:creationId xmlns:a16="http://schemas.microsoft.com/office/drawing/2014/main" id="{60D0D601-AF24-45E8-BED2-2C7035221224}"/>
              </a:ext>
            </a:extLst>
          </p:cNvPr>
          <p:cNvSpPr txBox="1"/>
          <p:nvPr/>
        </p:nvSpPr>
        <p:spPr>
          <a:xfrm>
            <a:off x="1629355" y="986750"/>
            <a:ext cx="2723823" cy="2308324"/>
          </a:xfrm>
          <a:prstGeom prst="rect">
            <a:avLst/>
          </a:prstGeom>
          <a:noFill/>
        </p:spPr>
        <p:txBody>
          <a:bodyPr wrap="none" rtlCol="0">
            <a:spAutoFit/>
          </a:bodyPr>
          <a:lstStyle/>
          <a:p>
            <a:r>
              <a:rPr kumimoji="1" lang="ja-JP" altLang="en-US" dirty="0"/>
              <a:t>データ１　ステージ画像</a:t>
            </a:r>
            <a:endParaRPr kumimoji="1" lang="en-US" altLang="ja-JP" dirty="0"/>
          </a:p>
          <a:p>
            <a:r>
              <a:rPr lang="ja-JP" altLang="en-US" dirty="0"/>
              <a:t>　　　　　プレイ時間</a:t>
            </a:r>
            <a:endParaRPr lang="en-US" altLang="ja-JP" dirty="0"/>
          </a:p>
          <a:p>
            <a:endParaRPr kumimoji="1" lang="en-US" altLang="ja-JP" dirty="0"/>
          </a:p>
          <a:p>
            <a:r>
              <a:rPr kumimoji="1" lang="ja-JP" altLang="en-US" dirty="0"/>
              <a:t>データ</a:t>
            </a:r>
            <a:r>
              <a:rPr kumimoji="1" lang="en-US" altLang="ja-JP" dirty="0"/>
              <a:t>2</a:t>
            </a:r>
            <a:r>
              <a:rPr kumimoji="1" lang="ja-JP" altLang="en-US" dirty="0"/>
              <a:t>　ステージ画像</a:t>
            </a:r>
            <a:endParaRPr kumimoji="1" lang="en-US" altLang="ja-JP" dirty="0"/>
          </a:p>
          <a:p>
            <a:r>
              <a:rPr lang="ja-JP" altLang="en-US" dirty="0"/>
              <a:t>　　　　　プレイ時間</a:t>
            </a:r>
            <a:endParaRPr kumimoji="1" lang="ja-JP" altLang="en-US" dirty="0"/>
          </a:p>
          <a:p>
            <a:endParaRPr kumimoji="1" lang="en-US" altLang="ja-JP" dirty="0"/>
          </a:p>
          <a:p>
            <a:r>
              <a:rPr kumimoji="1" lang="ja-JP" altLang="en-US" dirty="0"/>
              <a:t>データ</a:t>
            </a:r>
            <a:r>
              <a:rPr kumimoji="1" lang="en-US" altLang="ja-JP" dirty="0"/>
              <a:t>3</a:t>
            </a:r>
            <a:r>
              <a:rPr kumimoji="1" lang="ja-JP" altLang="en-US" dirty="0"/>
              <a:t>　ステージ画像</a:t>
            </a:r>
            <a:endParaRPr kumimoji="1" lang="en-US" altLang="ja-JP" dirty="0"/>
          </a:p>
          <a:p>
            <a:r>
              <a:rPr lang="ja-JP" altLang="en-US" dirty="0"/>
              <a:t>　　　　　プレイ時間</a:t>
            </a:r>
            <a:endParaRPr kumimoji="1" lang="ja-JP" altLang="en-US" dirty="0"/>
          </a:p>
        </p:txBody>
      </p:sp>
      <p:graphicFrame>
        <p:nvGraphicFramePr>
          <p:cNvPr id="4" name="表 4">
            <a:extLst>
              <a:ext uri="{FF2B5EF4-FFF2-40B4-BE49-F238E27FC236}">
                <a16:creationId xmlns:a16="http://schemas.microsoft.com/office/drawing/2014/main" id="{8CFA5E03-BE39-4834-B449-5CE349FCA504}"/>
              </a:ext>
            </a:extLst>
          </p:cNvPr>
          <p:cNvGraphicFramePr>
            <a:graphicFrameLocks noGrp="1"/>
          </p:cNvGraphicFramePr>
          <p:nvPr>
            <p:extLst>
              <p:ext uri="{D42A27DB-BD31-4B8C-83A1-F6EECF244321}">
                <p14:modId xmlns:p14="http://schemas.microsoft.com/office/powerpoint/2010/main" val="4038329496"/>
              </p:ext>
            </p:extLst>
          </p:nvPr>
        </p:nvGraphicFramePr>
        <p:xfrm>
          <a:off x="248066" y="3562927"/>
          <a:ext cx="11201400" cy="3017520"/>
        </p:xfrm>
        <a:graphic>
          <a:graphicData uri="http://schemas.openxmlformats.org/drawingml/2006/table">
            <a:tbl>
              <a:tblPr firstRow="1" bandRow="1">
                <a:tableStyleId>{5C22544A-7EE6-4342-B048-85BDC9FD1C3A}</a:tableStyleId>
              </a:tblPr>
              <a:tblGrid>
                <a:gridCol w="3900379">
                  <a:extLst>
                    <a:ext uri="{9D8B030D-6E8A-4147-A177-3AD203B41FA5}">
                      <a16:colId xmlns:a16="http://schemas.microsoft.com/office/drawing/2014/main" val="682253576"/>
                    </a:ext>
                  </a:extLst>
                </a:gridCol>
                <a:gridCol w="7301021">
                  <a:extLst>
                    <a:ext uri="{9D8B030D-6E8A-4147-A177-3AD203B41FA5}">
                      <a16:colId xmlns:a16="http://schemas.microsoft.com/office/drawing/2014/main" val="940895036"/>
                    </a:ext>
                  </a:extLst>
                </a:gridCol>
              </a:tblGrid>
              <a:tr h="347275">
                <a:tc>
                  <a:txBody>
                    <a:bodyPr/>
                    <a:lstStyle/>
                    <a:p>
                      <a:r>
                        <a:rPr kumimoji="1" lang="ja-JP" altLang="en-US" dirty="0"/>
                        <a:t>詳細</a:t>
                      </a:r>
                    </a:p>
                  </a:txBody>
                  <a:tcPr/>
                </a:tc>
                <a:tc>
                  <a:txBody>
                    <a:bodyPr/>
                    <a:lstStyle/>
                    <a:p>
                      <a:endParaRPr kumimoji="1" lang="ja-JP" altLang="en-US" dirty="0"/>
                    </a:p>
                  </a:txBody>
                  <a:tcPr/>
                </a:tc>
                <a:extLst>
                  <a:ext uri="{0D108BD9-81ED-4DB2-BD59-A6C34878D82A}">
                    <a16:rowId xmlns:a16="http://schemas.microsoft.com/office/drawing/2014/main" val="1103513866"/>
                  </a:ext>
                </a:extLst>
              </a:tr>
              <a:tr h="347275">
                <a:tc>
                  <a:txBody>
                    <a:bodyPr/>
                    <a:lstStyle/>
                    <a:p>
                      <a:r>
                        <a:rPr kumimoji="1" lang="ja-JP" altLang="en-US" dirty="0"/>
                        <a:t>■初めに</a:t>
                      </a:r>
                      <a:endParaRPr kumimoji="1" lang="en-US" altLang="ja-JP"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セーブデータは３つまで</a:t>
                      </a:r>
                    </a:p>
                  </a:txBody>
                  <a:tcPr/>
                </a:tc>
                <a:extLst>
                  <a:ext uri="{0D108BD9-81ED-4DB2-BD59-A6C34878D82A}">
                    <a16:rowId xmlns:a16="http://schemas.microsoft.com/office/drawing/2014/main" val="1304807445"/>
                  </a:ext>
                </a:extLst>
              </a:tr>
              <a:tr h="599406">
                <a:tc>
                  <a:txBody>
                    <a:bodyPr/>
                    <a:lstStyle/>
                    <a:p>
                      <a:r>
                        <a:rPr kumimoji="1" lang="ja-JP" altLang="en-US" dirty="0"/>
                        <a:t>■データ</a:t>
                      </a:r>
                    </a:p>
                  </a:txBody>
                  <a:tcPr/>
                </a:tc>
                <a:tc>
                  <a:txBody>
                    <a:bodyPr/>
                    <a:lstStyle/>
                    <a:p>
                      <a:r>
                        <a:rPr kumimoji="1" lang="ja-JP" altLang="en-US" dirty="0"/>
                        <a:t>ステージ画像　セーブしたステージに対応する画像を表示</a:t>
                      </a:r>
                      <a:endParaRPr kumimoji="1" lang="en-US" altLang="ja-JP" dirty="0"/>
                    </a:p>
                    <a:p>
                      <a:r>
                        <a:rPr kumimoji="1" lang="ja-JP" altLang="en-US" dirty="0"/>
                        <a:t>プレイ時間　　プレイ時間を</a:t>
                      </a:r>
                      <a:r>
                        <a:rPr kumimoji="1" lang="en-US" altLang="ja-JP" dirty="0" err="1"/>
                        <a:t>hhh:mm:ss</a:t>
                      </a:r>
                      <a:r>
                        <a:rPr kumimoji="1" lang="ja-JP" altLang="en-US" dirty="0"/>
                        <a:t>で表示</a:t>
                      </a:r>
                    </a:p>
                  </a:txBody>
                  <a:tcPr/>
                </a:tc>
                <a:extLst>
                  <a:ext uri="{0D108BD9-81ED-4DB2-BD59-A6C34878D82A}">
                    <a16:rowId xmlns:a16="http://schemas.microsoft.com/office/drawing/2014/main" val="751232495"/>
                  </a:ext>
                </a:extLst>
              </a:tr>
              <a:tr h="347275">
                <a:tc>
                  <a:txBody>
                    <a:bodyPr/>
                    <a:lstStyle/>
                    <a:p>
                      <a:r>
                        <a:rPr kumimoji="1" lang="ja-JP" altLang="en-US" dirty="0"/>
                        <a:t>■背景</a:t>
                      </a:r>
                    </a:p>
                  </a:txBody>
                  <a:tcPr/>
                </a:tc>
                <a:tc>
                  <a:txBody>
                    <a:bodyPr/>
                    <a:lstStyle/>
                    <a:p>
                      <a:r>
                        <a:rPr kumimoji="1" lang="ja-JP" altLang="en-US" dirty="0"/>
                        <a:t>全体の背景画像とデータ枠用の画像を用意</a:t>
                      </a:r>
                    </a:p>
                  </a:txBody>
                  <a:tcPr/>
                </a:tc>
                <a:extLst>
                  <a:ext uri="{0D108BD9-81ED-4DB2-BD59-A6C34878D82A}">
                    <a16:rowId xmlns:a16="http://schemas.microsoft.com/office/drawing/2014/main" val="2766608854"/>
                  </a:ext>
                </a:extLst>
              </a:tr>
              <a:tr h="856294">
                <a:tc>
                  <a:txBody>
                    <a:bodyPr/>
                    <a:lstStyle/>
                    <a:p>
                      <a:r>
                        <a:rPr kumimoji="1" lang="ja-JP" altLang="en-US" dirty="0"/>
                        <a:t>■遷移</a:t>
                      </a:r>
                    </a:p>
                  </a:txBody>
                  <a:tcPr/>
                </a:tc>
                <a:tc>
                  <a:txBody>
                    <a:bodyPr/>
                    <a:lstStyle/>
                    <a:p>
                      <a:r>
                        <a:rPr kumimoji="1" lang="ja-JP" altLang="en-US" dirty="0"/>
                        <a:t>セーブ画面として開いている時、キャンセルボタンで前の画面に戻る</a:t>
                      </a:r>
                      <a:endParaRPr kumimoji="1" lang="en-US" altLang="ja-JP" dirty="0"/>
                    </a:p>
                    <a:p>
                      <a:r>
                        <a:rPr kumimoji="1" lang="ja-JP" altLang="en-US" dirty="0"/>
                        <a:t>ロード画面として開いている時、データを選択したらロードしてプレイ画面へ</a:t>
                      </a:r>
                    </a:p>
                  </a:txBody>
                  <a:tcPr/>
                </a:tc>
                <a:extLst>
                  <a:ext uri="{0D108BD9-81ED-4DB2-BD59-A6C34878D82A}">
                    <a16:rowId xmlns:a16="http://schemas.microsoft.com/office/drawing/2014/main" val="4216477840"/>
                  </a:ext>
                </a:extLst>
              </a:tr>
              <a:tr h="347275">
                <a:tc>
                  <a:txBody>
                    <a:bodyPr/>
                    <a:lstStyle/>
                    <a:p>
                      <a:r>
                        <a:rPr kumimoji="1" lang="ja-JP" altLang="en-US" dirty="0"/>
                        <a:t>■その他</a:t>
                      </a:r>
                    </a:p>
                  </a:txBody>
                  <a:tcPr/>
                </a:tc>
                <a:tc>
                  <a:txBody>
                    <a:bodyPr/>
                    <a:lstStyle/>
                    <a:p>
                      <a:r>
                        <a:rPr kumimoji="1" lang="ja-JP" altLang="en-US" dirty="0"/>
                        <a:t>前の画面は裏側に残しておく</a:t>
                      </a:r>
                    </a:p>
                  </a:txBody>
                  <a:tcPr/>
                </a:tc>
                <a:extLst>
                  <a:ext uri="{0D108BD9-81ED-4DB2-BD59-A6C34878D82A}">
                    <a16:rowId xmlns:a16="http://schemas.microsoft.com/office/drawing/2014/main" val="2195010178"/>
                  </a:ext>
                </a:extLst>
              </a:tr>
            </a:tbl>
          </a:graphicData>
        </a:graphic>
      </p:graphicFrame>
    </p:spTree>
    <p:extLst>
      <p:ext uri="{BB962C8B-B14F-4D97-AF65-F5344CB8AC3E}">
        <p14:creationId xmlns:p14="http://schemas.microsoft.com/office/powerpoint/2010/main" val="2080049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DFE4D52E-3029-42E2-AC9E-7A3CFD69D042}"/>
              </a:ext>
            </a:extLst>
          </p:cNvPr>
          <p:cNvSpPr txBox="1"/>
          <p:nvPr/>
        </p:nvSpPr>
        <p:spPr>
          <a:xfrm>
            <a:off x="609600" y="927100"/>
            <a:ext cx="2106667" cy="1477328"/>
          </a:xfrm>
          <a:prstGeom prst="rect">
            <a:avLst/>
          </a:prstGeom>
          <a:noFill/>
        </p:spPr>
        <p:txBody>
          <a:bodyPr wrap="none" rtlCol="0">
            <a:spAutoFit/>
          </a:bodyPr>
          <a:lstStyle/>
          <a:p>
            <a:r>
              <a:rPr kumimoji="1" lang="ja-JP" altLang="en-US" dirty="0"/>
              <a:t>　  オプション</a:t>
            </a:r>
            <a:endParaRPr kumimoji="1" lang="en-US" altLang="ja-JP" dirty="0"/>
          </a:p>
          <a:p>
            <a:endParaRPr lang="en-US" altLang="ja-JP" dirty="0"/>
          </a:p>
          <a:p>
            <a:r>
              <a:rPr kumimoji="1" lang="en-US" altLang="ja-JP" dirty="0"/>
              <a:t>BGM</a:t>
            </a:r>
            <a:r>
              <a:rPr kumimoji="1" lang="ja-JP" altLang="en-US" dirty="0"/>
              <a:t>　■■■■□</a:t>
            </a:r>
            <a:endParaRPr kumimoji="1" lang="en-US" altLang="ja-JP" dirty="0"/>
          </a:p>
          <a:p>
            <a:r>
              <a:rPr lang="en-US" altLang="ja-JP" dirty="0"/>
              <a:t>SE</a:t>
            </a:r>
            <a:r>
              <a:rPr lang="ja-JP" altLang="en-US" dirty="0"/>
              <a:t>　　■■■□□</a:t>
            </a:r>
            <a:endParaRPr kumimoji="1" lang="ja-JP" altLang="en-US" dirty="0"/>
          </a:p>
          <a:p>
            <a:r>
              <a:rPr kumimoji="1" lang="ja-JP" altLang="en-US" dirty="0"/>
              <a:t>　</a:t>
            </a:r>
          </a:p>
        </p:txBody>
      </p:sp>
      <p:sp>
        <p:nvSpPr>
          <p:cNvPr id="6" name="テキスト ボックス 5">
            <a:extLst>
              <a:ext uri="{FF2B5EF4-FFF2-40B4-BE49-F238E27FC236}">
                <a16:creationId xmlns:a16="http://schemas.microsoft.com/office/drawing/2014/main" id="{AC70FCB1-C88C-4E37-AC2A-AE48E4C30F8C}"/>
              </a:ext>
            </a:extLst>
          </p:cNvPr>
          <p:cNvSpPr txBox="1"/>
          <p:nvPr/>
        </p:nvSpPr>
        <p:spPr>
          <a:xfrm>
            <a:off x="279400" y="228600"/>
            <a:ext cx="2339102" cy="461665"/>
          </a:xfrm>
          <a:prstGeom prst="rect">
            <a:avLst/>
          </a:prstGeom>
          <a:noFill/>
        </p:spPr>
        <p:txBody>
          <a:bodyPr wrap="none" rtlCol="0">
            <a:spAutoFit/>
          </a:bodyPr>
          <a:lstStyle/>
          <a:p>
            <a:r>
              <a:rPr kumimoji="1" lang="ja-JP" altLang="en-US" sz="2400" b="1" dirty="0"/>
              <a:t>オプション画面</a:t>
            </a:r>
          </a:p>
        </p:txBody>
      </p:sp>
      <p:graphicFrame>
        <p:nvGraphicFramePr>
          <p:cNvPr id="7" name="表 7">
            <a:extLst>
              <a:ext uri="{FF2B5EF4-FFF2-40B4-BE49-F238E27FC236}">
                <a16:creationId xmlns:a16="http://schemas.microsoft.com/office/drawing/2014/main" id="{D309F991-7809-40EF-98E9-890E12DE4256}"/>
              </a:ext>
            </a:extLst>
          </p:cNvPr>
          <p:cNvGraphicFramePr>
            <a:graphicFrameLocks noGrp="1"/>
          </p:cNvGraphicFramePr>
          <p:nvPr>
            <p:extLst>
              <p:ext uri="{D42A27DB-BD31-4B8C-83A1-F6EECF244321}">
                <p14:modId xmlns:p14="http://schemas.microsoft.com/office/powerpoint/2010/main" val="2126670953"/>
              </p:ext>
            </p:extLst>
          </p:nvPr>
        </p:nvGraphicFramePr>
        <p:xfrm>
          <a:off x="279400" y="2569528"/>
          <a:ext cx="10274300" cy="249428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752271131"/>
                    </a:ext>
                  </a:extLst>
                </a:gridCol>
                <a:gridCol w="7543800">
                  <a:extLst>
                    <a:ext uri="{9D8B030D-6E8A-4147-A177-3AD203B41FA5}">
                      <a16:colId xmlns:a16="http://schemas.microsoft.com/office/drawing/2014/main" val="405599763"/>
                    </a:ext>
                  </a:extLst>
                </a:gridCol>
              </a:tblGrid>
              <a:tr h="370840">
                <a:tc>
                  <a:txBody>
                    <a:bodyPr/>
                    <a:lstStyle/>
                    <a:p>
                      <a:r>
                        <a:rPr kumimoji="1" lang="ja-JP" altLang="en-US" dirty="0"/>
                        <a:t>詳細</a:t>
                      </a:r>
                    </a:p>
                  </a:txBody>
                  <a:tcPr/>
                </a:tc>
                <a:tc>
                  <a:txBody>
                    <a:bodyPr/>
                    <a:lstStyle/>
                    <a:p>
                      <a:endParaRPr kumimoji="1" lang="ja-JP" altLang="en-US"/>
                    </a:p>
                  </a:txBody>
                  <a:tcPr/>
                </a:tc>
                <a:extLst>
                  <a:ext uri="{0D108BD9-81ED-4DB2-BD59-A6C34878D82A}">
                    <a16:rowId xmlns:a16="http://schemas.microsoft.com/office/drawing/2014/main" val="603641667"/>
                  </a:ext>
                </a:extLst>
              </a:tr>
              <a:tr h="370840">
                <a:tc>
                  <a:txBody>
                    <a:bodyPr/>
                    <a:lstStyle/>
                    <a:p>
                      <a:r>
                        <a:rPr kumimoji="1" lang="ja-JP" altLang="en-US" dirty="0"/>
                        <a:t>■初めに</a:t>
                      </a:r>
                    </a:p>
                  </a:txBody>
                  <a:tcPr/>
                </a:tc>
                <a:tc>
                  <a:txBody>
                    <a:bodyPr/>
                    <a:lstStyle/>
                    <a:p>
                      <a:r>
                        <a:rPr kumimoji="1" lang="ja-JP" altLang="en-US" dirty="0"/>
                        <a:t>５段階で調節</a:t>
                      </a:r>
                    </a:p>
                  </a:txBody>
                  <a:tcPr/>
                </a:tc>
                <a:extLst>
                  <a:ext uri="{0D108BD9-81ED-4DB2-BD59-A6C34878D82A}">
                    <a16:rowId xmlns:a16="http://schemas.microsoft.com/office/drawing/2014/main" val="224901059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a:t>
                      </a:r>
                      <a:r>
                        <a:rPr kumimoji="1" lang="en-US" altLang="ja-JP" dirty="0"/>
                        <a:t>BGM/SE</a:t>
                      </a:r>
                      <a:endParaRPr kumimoji="1" lang="ja-JP" altLang="en-US" dirty="0"/>
                    </a:p>
                  </a:txBody>
                  <a:tcPr/>
                </a:tc>
                <a:tc>
                  <a:txBody>
                    <a:bodyPr/>
                    <a:lstStyle/>
                    <a:p>
                      <a:r>
                        <a:rPr kumimoji="1" lang="ja-JP" altLang="en-US" dirty="0"/>
                        <a:t>選択中の項目にカーソル表示</a:t>
                      </a:r>
                    </a:p>
                  </a:txBody>
                  <a:tcPr/>
                </a:tc>
                <a:extLst>
                  <a:ext uri="{0D108BD9-81ED-4DB2-BD59-A6C34878D82A}">
                    <a16:rowId xmlns:a16="http://schemas.microsoft.com/office/drawing/2014/main" val="36801545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■背景</a:t>
                      </a:r>
                    </a:p>
                  </a:txBody>
                  <a:tcPr/>
                </a:tc>
                <a:tc>
                  <a:txBody>
                    <a:bodyPr/>
                    <a:lstStyle/>
                    <a:p>
                      <a:r>
                        <a:rPr kumimoji="1" lang="ja-JP" altLang="en-US" dirty="0"/>
                        <a:t>じゆう</a:t>
                      </a:r>
                    </a:p>
                  </a:txBody>
                  <a:tcPr/>
                </a:tc>
                <a:extLst>
                  <a:ext uri="{0D108BD9-81ED-4DB2-BD59-A6C34878D82A}">
                    <a16:rowId xmlns:a16="http://schemas.microsoft.com/office/drawing/2014/main" val="11462544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■遷移</a:t>
                      </a:r>
                    </a:p>
                  </a:txBody>
                  <a:tcPr/>
                </a:tc>
                <a:tc>
                  <a:txBody>
                    <a:bodyPr/>
                    <a:lstStyle/>
                    <a:p>
                      <a:r>
                        <a:rPr kumimoji="1" lang="ja-JP" altLang="en-US" dirty="0"/>
                        <a:t>キャンセルボタンが押された際に設定が変わっていたら設定を保存するか確認して前の画面に戻る</a:t>
                      </a:r>
                    </a:p>
                  </a:txBody>
                  <a:tcPr/>
                </a:tc>
                <a:extLst>
                  <a:ext uri="{0D108BD9-81ED-4DB2-BD59-A6C34878D82A}">
                    <a16:rowId xmlns:a16="http://schemas.microsoft.com/office/drawing/2014/main" val="6187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■その他</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前の画面は裏側に残しておく</a:t>
                      </a:r>
                    </a:p>
                  </a:txBody>
                  <a:tcPr/>
                </a:tc>
                <a:extLst>
                  <a:ext uri="{0D108BD9-81ED-4DB2-BD59-A6C34878D82A}">
                    <a16:rowId xmlns:a16="http://schemas.microsoft.com/office/drawing/2014/main" val="2205233710"/>
                  </a:ext>
                </a:extLst>
              </a:tr>
            </a:tbl>
          </a:graphicData>
        </a:graphic>
      </p:graphicFrame>
    </p:spTree>
    <p:extLst>
      <p:ext uri="{BB962C8B-B14F-4D97-AF65-F5344CB8AC3E}">
        <p14:creationId xmlns:p14="http://schemas.microsoft.com/office/powerpoint/2010/main" val="333694644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587</TotalTime>
  <Words>920</Words>
  <Application>Microsoft Office PowerPoint</Application>
  <PresentationFormat>ワイド画面</PresentationFormat>
  <Paragraphs>213</Paragraphs>
  <Slides>12</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12</vt:i4>
      </vt:variant>
    </vt:vector>
  </HeadingPairs>
  <TitlesOfParts>
    <vt:vector size="20" baseType="lpstr">
      <vt:lpstr>游ゴシック</vt:lpstr>
      <vt:lpstr>游ゴシック Light</vt:lpstr>
      <vt:lpstr>Algerian</vt:lpstr>
      <vt:lpstr>Arial</vt:lpstr>
      <vt:lpstr>Bell MT</vt:lpstr>
      <vt:lpstr>Magneto</vt:lpstr>
      <vt:lpstr>Mongolian Baiti</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馬場　碧生</dc:creator>
  <cp:lastModifiedBy>馬場　碧生</cp:lastModifiedBy>
  <cp:revision>42</cp:revision>
  <dcterms:created xsi:type="dcterms:W3CDTF">2026-02-04T00:55:47Z</dcterms:created>
  <dcterms:modified xsi:type="dcterms:W3CDTF">2026-02-13T01:34:34Z</dcterms:modified>
</cp:coreProperties>
</file>